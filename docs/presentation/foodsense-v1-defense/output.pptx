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58"/>
  </p:normalViewPr>
  <p:slideViewPr>
    <p:cSldViewPr snapToGrid="0">
      <p:cViewPr>
        <p:scale>
          <a:sx n="67" d="100"/>
          <a:sy n="67" d="100"/>
        </p:scale>
        <p:origin x="644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Ouvrir la soutenance en rappelant l'objectif: construire une recherche semantique defendable, demonstrable et honnete sur ses limites.</a:t>
            </a:r>
          </a:p>
          <a:p>
            <a:endParaRPr/>
          </a:p>
          <a:p>
            <a:r>
              <a:t>[Sources]</a:t>
            </a:r>
          </a:p>
          <a:p>
            <a:r>
              <a:t>- FoodSense README, evaluation README and project journal dated April 2026.</a:t>
            </a:r>
          </a:p>
          <a:p>
            <a:r>
              <a:t>- V1 scope validated in project documentation: ProductId is the search unit; summary is centered on client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Donner un exemple de requete naturelle et expliquer pourquoi la semantique est pertinente.</a:t>
            </a:r>
          </a:p>
          <a:p>
            <a:endParaRPr/>
          </a:p>
          <a:p>
            <a:r>
              <a:t>[Sources]</a:t>
            </a:r>
          </a:p>
          <a:p>
            <a:r>
              <a:t>- FoodSense README, evaluation README and project journal dated April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Insister sur le fait que la V1 est bien un moteur de recherche semantique, mais pas encore un moteur catalogue ou nutritionnel complet.</a:t>
            </a:r>
          </a:p>
          <a:p>
            <a:endParaRPr/>
          </a:p>
          <a:p>
            <a:r>
              <a:t>[Sources]</a:t>
            </a:r>
          </a:p>
          <a:p>
            <a:r>
              <a:t>- V1 scope validated in project documentation: ProductId is the search unit; summary is centered on client reviews.</a:t>
            </a:r>
          </a:p>
          <a:p>
            <a:r>
              <a:t>- FoodSense README, evaluation README and project journal dated April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Cette slide doit rassurer: le perimetre a ete reduit pour livrer quelque chose de robuste.</a:t>
            </a:r>
          </a:p>
          <a:p>
            <a:endParaRPr/>
          </a:p>
          <a:p>
            <a:r>
              <a:t>[Sources]</a:t>
            </a:r>
          </a:p>
          <a:p>
            <a:r>
              <a:t>- V1 scope validated in project documentation: ProductId is the search unit; summary is centered on client reviews.</a:t>
            </a:r>
          </a:p>
          <a:p>
            <a:r>
              <a:t>- FoodSense README, evaluation README and project journal dated April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 le professeur insiste, rappeler que le pipeline a ete pense comme une base MLOps simple et reproductible.</a:t>
            </a:r>
          </a:p>
          <a:p>
            <a:endParaRPr/>
          </a:p>
          <a:p>
            <a:r>
              <a:t>[Sources]</a:t>
            </a:r>
          </a:p>
          <a:p>
            <a:r>
              <a:t>- FoodSense README, evaluation README and project journal dated April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 l'enchainement: requete utilisateur vers backend, embedding, interrogation Qdrant, puis reponse structuree au frontend.</a:t>
            </a:r>
          </a:p>
          <a:p>
            <a:endParaRPr/>
          </a:p>
          <a:p>
            <a:r>
              <a:t>[Sources]</a:t>
            </a:r>
          </a:p>
          <a:p>
            <a:r>
              <a:t>- FoodSense README, evaluation README and project journal dated April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Bien dire que le fallback est un mecanisme de resilience, pas un aveu d'echec architectural.</a:t>
            </a:r>
          </a:p>
          <a:p>
            <a:endParaRPr/>
          </a:p>
          <a:p>
            <a:r>
              <a:t>[Sources]</a:t>
            </a:r>
          </a:p>
          <a:p>
            <a:r>
              <a:t>- FoodSense README, evaluation README and project journal dated April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Pendant l'oral, annoncer que la demo montrera la requete, le classement et le resume.</a:t>
            </a:r>
          </a:p>
          <a:p>
            <a:endParaRPr/>
          </a:p>
          <a:p>
            <a:r>
              <a:t>[Sources]</a:t>
            </a:r>
          </a:p>
          <a:p>
            <a:r>
              <a:t>- V1 scope validated in project documentation: ProductId is the search unit; summary is centered on client reviews.</a:t>
            </a:r>
          </a:p>
          <a:p>
            <a:r>
              <a:t>- FoodSense README, evaluation README and project journal dated April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Conclure explicitement que la recherche semantique depasse la baseline lexicale sur le benchmark versionne.</a:t>
            </a:r>
          </a:p>
          <a:p>
            <a:endParaRPr/>
          </a:p>
          <a:p>
            <a:r>
              <a:t>[Sources]</a:t>
            </a:r>
          </a:p>
          <a:p>
            <a:r>
              <a:t>- Versioned V1 metrics: Precision@3 0.75, Success@3 1.0, MRR 0.8333 vs lexical baseline 0.6667, 0.75, 0.75.</a:t>
            </a:r>
          </a:p>
          <a:p>
            <a:r>
              <a:t>- FoodSense README, evaluation README and project journal dated April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 la machine est fragile, garder une capture de secours. Si tout fonctionne, rester sur une seule requete forte.</a:t>
            </a:r>
          </a:p>
          <a:p>
            <a:endParaRPr/>
          </a:p>
          <a:p>
            <a:r>
              <a:t>[Sources]</a:t>
            </a:r>
          </a:p>
          <a:p>
            <a:r>
              <a:t>- FoodSense README, evaluation README and project journal dated April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Dire que ces limites sont connues, documentees et deja prises en compte dans la vision V2.</a:t>
            </a:r>
          </a:p>
          <a:p>
            <a:endParaRPr/>
          </a:p>
          <a:p>
            <a:r>
              <a:t>[Sources]</a:t>
            </a:r>
          </a:p>
          <a:p>
            <a:r>
              <a:t>- FoodSense README, evaluation README and project journal dated April 2026.</a:t>
            </a:r>
          </a:p>
          <a:p>
            <a:r>
              <a:t>- Versioned V1 metrics: Precision@3 0.75, Success@3 1.0, MRR 0.8333 vs lexical baseline 0.6667, 0.75, 0.75.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Clore en montrant que la V1 n'est pas une fin, mais une fondation propre pour une V2 plus metier.</a:t>
            </a:r>
          </a:p>
          <a:p>
            <a:endParaRPr/>
          </a:p>
          <a:p>
            <a:r>
              <a:t>[Sources]</a:t>
            </a:r>
          </a:p>
          <a:p>
            <a:r>
              <a:t>- FoodSense README, evaluation README and project journal dated April 2026.</a:t>
            </a:r>
          </a:p>
          <a:p>
            <a:r>
              <a:t>- V1 scope validated in project documentation: ProductId is the search unit; summary is centered on client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37EB164-0D6F-461E-8230-03FA016490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C572765-637B-497A-A7F8-A9544C335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0D624E9-F5A3-4E6B-AF84-CE32158DB9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CB2EDD-5FCD-4E7D-BA8E-4F034DC7CA2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1E98108-7737-4F40-B852-7643EDEEE7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E46C272-BDE5-443C-8C31-DA6C7745C9A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1E98108-7737-4F40-B852-7643EDEEE73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7DBDC32C-A581-46A6-BFF7-31361CDC8670}"/>
              </a:ext>
            </a:extLst>
          </p:cNvPr>
          <p:cNvSpPr>
            <a:spLocks noGrp="1"/>
          </p:cNvSpPr>
          <p:nvPr/>
        </p:nvSpPr>
        <p:spPr>
          <a:xfrm>
            <a:off x="-1143000" y="-857250"/>
            <a:ext cx="4000500" cy="3048000"/>
          </a:xfrm>
          <a:prstGeom prst="ellipse">
            <a:avLst/>
          </a:prstGeom>
          <a:solidFill>
            <a:srgbClr val="E9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E36D7E7-F74A-40FF-B5D0-4D1D1F258EB8}"/>
              </a:ext>
            </a:extLst>
          </p:cNvPr>
          <p:cNvSpPr>
            <a:spLocks noGrp="1"/>
          </p:cNvSpPr>
          <p:nvPr/>
        </p:nvSpPr>
        <p:spPr>
          <a:xfrm>
            <a:off x="9525000" y="-381000"/>
            <a:ext cx="2476500" cy="2095500"/>
          </a:xfrm>
          <a:prstGeom prst="ellipse">
            <a:avLst/>
          </a:prstGeom>
          <a:solidFill>
            <a:srgbClr val="FCE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A9CDE8E3-B093-481D-A61A-A46609E2F948}"/>
              </a:ext>
            </a:extLst>
          </p:cNvPr>
          <p:cNvSpPr>
            <a:spLocks noGrp="1"/>
          </p:cNvSpPr>
          <p:nvPr/>
        </p:nvSpPr>
        <p:spPr>
          <a:xfrm>
            <a:off x="8763000" y="4953000"/>
            <a:ext cx="3429000" cy="2476500"/>
          </a:xfrm>
          <a:prstGeom prst="ellipse">
            <a:avLst/>
          </a:prstGeom>
          <a:solidFill>
            <a:srgbClr val="E8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19F3720-F658-46E8-BD22-A0054E09D3F5}"/>
              </a:ext>
            </a:extLst>
          </p:cNvPr>
          <p:cNvSpPr>
            <a:spLocks noGrp="1"/>
          </p:cNvSpPr>
          <p:nvPr/>
        </p:nvSpPr>
        <p:spPr>
          <a:xfrm>
            <a:off x="533400" y="876300"/>
            <a:ext cx="11125200" cy="5295900"/>
          </a:xfrm>
          <a:prstGeom prst="roundRect">
            <a:avLst>
              <a:gd name="adj" fmla="val 1439"/>
            </a:avLst>
          </a:prstGeom>
          <a:solidFill>
            <a:srgbClr val="FFFFFF">
              <a:alpha val="84706"/>
            </a:srgbClr>
          </a:solidFill>
          <a:ln w="9525">
            <a:solidFill>
              <a:srgbClr val="E5DED1"/>
            </a:solidFill>
            <a:prstDash val="solid"/>
          </a:ln>
        </p:spPr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B5C32B4-EBB6-4282-92DF-95C7578ED4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26AF8F-3AB0-4776-82E6-0E300437A2E2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6675" cy="43338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7BEEBF-12B2-46BB-A917-A980A1BBCBB8}"/>
              </a:ext>
            </a:extLst>
          </p:cNvPr>
          <p:cNvSpPr>
            <a:spLocks noGrp="1"/>
          </p:cNvSpPr>
          <p:nvPr/>
        </p:nvSpPr>
        <p:spPr>
          <a:xfrm>
            <a:off x="819150" y="8382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FoodSense V1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118D88-E5BF-4F6D-9124-F3AFCC83F26D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7477125" cy="175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Moteur de recherche semantique pour produits alimentaires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4148B8-6B99-437E-8A76-4594D735C3D7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5810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Une V1 centree sur l'intention de recherche, la robustesse technique et une evaluation comparative face au lexical.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F9CF8FBF-8999-444B-A5C1-DCD7A812B9BE}"/>
              </a:ext>
            </a:extLst>
          </p:cNvPr>
          <p:cNvSpPr>
            <a:spLocks noGrp="1"/>
          </p:cNvSpPr>
          <p:nvPr/>
        </p:nvSpPr>
        <p:spPr>
          <a:xfrm>
            <a:off x="819150" y="4343400"/>
            <a:ext cx="3714750" cy="876300"/>
          </a:xfrm>
          <a:prstGeom prst="roundRect">
            <a:avLst>
              <a:gd name="adj" fmla="val 8696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15B3F1-CC22-4EE1-A526-3FFB4D231DF1}"/>
              </a:ext>
            </a:extLst>
          </p:cNvPr>
          <p:cNvSpPr>
            <a:spLocks noGrp="1"/>
          </p:cNvSpPr>
          <p:nvPr/>
        </p:nvSpPr>
        <p:spPr>
          <a:xfrm>
            <a:off x="1066800" y="4552950"/>
            <a:ext cx="3200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Rechercher par sens, pas seulement par mot-cle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24FE03-873E-466F-9984-5AA3CA74C9E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0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FoodSense V1 | Recherche semantique sur documents produits reconstruits</a:t>
            </a:r>
          </a:p>
        </p:txBody>
      </p:sp>
    </p:spTree>
    <p:extLst>
      <p:ext uri="{BB962C8B-B14F-4D97-AF65-F5344CB8AC3E}">
        <p14:creationId xmlns:p14="http://schemas.microsoft.com/office/powerpoint/2010/main" val="507182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61E98108-7737-4F40-B852-7643EDEEE73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562414B8-B344-4DF7-BE3D-7C28DC9A0B58}"/>
              </a:ext>
            </a:extLst>
          </p:cNvPr>
          <p:cNvSpPr>
            <a:spLocks noGrp="1"/>
          </p:cNvSpPr>
          <p:nvPr/>
        </p:nvSpPr>
        <p:spPr>
          <a:xfrm>
            <a:off x="-1143000" y="-857250"/>
            <a:ext cx="4000500" cy="3048000"/>
          </a:xfrm>
          <a:prstGeom prst="ellipse">
            <a:avLst/>
          </a:prstGeom>
          <a:solidFill>
            <a:srgbClr val="E9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093824F1-F4EA-42F3-AE11-BEAC7AC4CF10}"/>
              </a:ext>
            </a:extLst>
          </p:cNvPr>
          <p:cNvSpPr>
            <a:spLocks noGrp="1"/>
          </p:cNvSpPr>
          <p:nvPr/>
        </p:nvSpPr>
        <p:spPr>
          <a:xfrm>
            <a:off x="9525000" y="-381000"/>
            <a:ext cx="2476500" cy="2095500"/>
          </a:xfrm>
          <a:prstGeom prst="ellipse">
            <a:avLst/>
          </a:prstGeom>
          <a:solidFill>
            <a:srgbClr val="FCE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6F76146C-2D49-408A-8940-FA18A7BDC2A5}"/>
              </a:ext>
            </a:extLst>
          </p:cNvPr>
          <p:cNvSpPr>
            <a:spLocks noGrp="1"/>
          </p:cNvSpPr>
          <p:nvPr/>
        </p:nvSpPr>
        <p:spPr>
          <a:xfrm>
            <a:off x="8763000" y="4953000"/>
            <a:ext cx="3429000" cy="2476500"/>
          </a:xfrm>
          <a:prstGeom prst="ellipse">
            <a:avLst/>
          </a:prstGeom>
          <a:solidFill>
            <a:srgbClr val="E8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37623CA1-2B61-43AB-A3B7-F70C776593E1}"/>
              </a:ext>
            </a:extLst>
          </p:cNvPr>
          <p:cNvSpPr>
            <a:spLocks noGrp="1"/>
          </p:cNvSpPr>
          <p:nvPr/>
        </p:nvSpPr>
        <p:spPr>
          <a:xfrm>
            <a:off x="533400" y="876300"/>
            <a:ext cx="11125200" cy="5295900"/>
          </a:xfrm>
          <a:prstGeom prst="roundRect">
            <a:avLst>
              <a:gd name="adj" fmla="val 1439"/>
            </a:avLst>
          </a:prstGeom>
          <a:solidFill>
            <a:srgbClr val="FFFFFF">
              <a:alpha val="84706"/>
            </a:srgbClr>
          </a:solidFill>
          <a:ln w="9525">
            <a:solidFill>
              <a:srgbClr val="E5DED1"/>
            </a:solidFill>
            <a:prstDash val="solid"/>
          </a:ln>
        </p:spPr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510FBAF-ED44-49D0-867E-886120D7E5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4CA7B5-90AE-4C52-90D2-B8535E775C5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PROBLEME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4B1EE6-717A-4123-B1B6-85CD857C8944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12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22069A-E634-462A-9253-99FC6A1A87A8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6FD6FE3-2064-4E43-8B7F-BA3E5A8912C2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D19532-F593-4E95-880E-BA42A8F52707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Pourquoi une recherche semantique 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E41899-2371-49AC-BE45-5692D35E45ED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La recherche mot-a-mot ne suffit pas lorsque l'utilisateur exprime un besoin, une intention ou une contrainte sans connaitre le nom exact du produit.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E1051E22-FE8B-446E-8232-C3DD5A55101E}"/>
              </a:ext>
            </a:extLst>
          </p:cNvPr>
          <p:cNvSpPr>
            <a:spLocks noGrp="1"/>
          </p:cNvSpPr>
          <p:nvPr/>
        </p:nvSpPr>
        <p:spPr>
          <a:xfrm>
            <a:off x="800100" y="3600450"/>
            <a:ext cx="3384550" cy="2171700"/>
          </a:xfrm>
          <a:prstGeom prst="roundRect">
            <a:avLst>
              <a:gd name="adj" fmla="val 350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9FB1B9-D1DB-4F98-B490-88D392C17CE0}"/>
              </a:ext>
            </a:extLst>
          </p:cNvPr>
          <p:cNvSpPr>
            <a:spLocks noGrp="1"/>
          </p:cNvSpPr>
          <p:nvPr/>
        </p:nvSpPr>
        <p:spPr>
          <a:xfrm>
            <a:off x="800100" y="3600450"/>
            <a:ext cx="76200" cy="21717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2C7166E6-A749-4DF9-B9B9-D9344BC2E924}"/>
              </a:ext>
            </a:extLst>
          </p:cNvPr>
          <p:cNvSpPr>
            <a:spLocks noGrp="1"/>
          </p:cNvSpPr>
          <p:nvPr/>
        </p:nvSpPr>
        <p:spPr>
          <a:xfrm>
            <a:off x="1009650" y="38290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C1B7FA-C19A-4AA7-B3A4-004A8D702056}"/>
              </a:ext>
            </a:extLst>
          </p:cNvPr>
          <p:cNvSpPr>
            <a:spLocks noGrp="1"/>
          </p:cNvSpPr>
          <p:nvPr/>
        </p:nvSpPr>
        <p:spPr>
          <a:xfrm>
            <a:off x="1162050" y="410527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A1B782-1A1A-4449-994F-796E0CD116D8}"/>
              </a:ext>
            </a:extLst>
          </p:cNvPr>
          <p:cNvSpPr>
            <a:spLocks noGrp="1"/>
          </p:cNvSpPr>
          <p:nvPr/>
        </p:nvSpPr>
        <p:spPr>
          <a:xfrm>
            <a:off x="1247775" y="402907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B8345D-3CCB-4CE2-90A5-9DB54C15A54D}"/>
              </a:ext>
            </a:extLst>
          </p:cNvPr>
          <p:cNvSpPr>
            <a:spLocks noGrp="1"/>
          </p:cNvSpPr>
          <p:nvPr/>
        </p:nvSpPr>
        <p:spPr>
          <a:xfrm>
            <a:off x="1333500" y="396240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F8BE4D-7169-4CF1-91AC-59EDE0DC387B}"/>
              </a:ext>
            </a:extLst>
          </p:cNvPr>
          <p:cNvSpPr>
            <a:spLocks noGrp="1"/>
          </p:cNvSpPr>
          <p:nvPr/>
        </p:nvSpPr>
        <p:spPr>
          <a:xfrm>
            <a:off x="1638300" y="38100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Constat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ED6564-E404-4371-9A51-CEAD4514047E}"/>
              </a:ext>
            </a:extLst>
          </p:cNvPr>
          <p:cNvSpPr>
            <a:spLocks noGrp="1"/>
          </p:cNvSpPr>
          <p:nvPr/>
        </p:nvSpPr>
        <p:spPr>
          <a:xfrm>
            <a:off x="1028700" y="4419600"/>
            <a:ext cx="29273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Un utilisateur formule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souvent une intention comme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chocolat noir pauvre en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sucre ou gluten free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cookies, et non un nom de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produit precis.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B586767C-4B53-467E-A980-32561E7B02F8}"/>
              </a:ext>
            </a:extLst>
          </p:cNvPr>
          <p:cNvSpPr>
            <a:spLocks noGrp="1"/>
          </p:cNvSpPr>
          <p:nvPr/>
        </p:nvSpPr>
        <p:spPr>
          <a:xfrm>
            <a:off x="4413250" y="3600450"/>
            <a:ext cx="3384550" cy="2171700"/>
          </a:xfrm>
          <a:prstGeom prst="roundRect">
            <a:avLst>
              <a:gd name="adj" fmla="val 350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729E8E-8697-4A32-8B7A-5CBB2316D8EE}"/>
              </a:ext>
            </a:extLst>
          </p:cNvPr>
          <p:cNvSpPr>
            <a:spLocks noGrp="1"/>
          </p:cNvSpPr>
          <p:nvPr/>
        </p:nvSpPr>
        <p:spPr>
          <a:xfrm>
            <a:off x="4413250" y="3600450"/>
            <a:ext cx="76200" cy="21717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5AA947B9-B8DC-4077-8EB9-94C8E619022C}"/>
              </a:ext>
            </a:extLst>
          </p:cNvPr>
          <p:cNvSpPr>
            <a:spLocks noGrp="1"/>
          </p:cNvSpPr>
          <p:nvPr/>
        </p:nvSpPr>
        <p:spPr>
          <a:xfrm>
            <a:off x="4622800" y="38290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522F2BD3-1B70-4CDA-90EC-7E02B1DE8238}"/>
              </a:ext>
            </a:extLst>
          </p:cNvPr>
          <p:cNvSpPr>
            <a:spLocks noGrp="1"/>
          </p:cNvSpPr>
          <p:nvPr/>
        </p:nvSpPr>
        <p:spPr>
          <a:xfrm>
            <a:off x="4746625" y="400050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7EE8C7AA-DEC0-4EDF-A8F6-0EF3D48DD2E7}"/>
              </a:ext>
            </a:extLst>
          </p:cNvPr>
          <p:cNvSpPr>
            <a:spLocks noGrp="1"/>
          </p:cNvSpPr>
          <p:nvPr/>
        </p:nvSpPr>
        <p:spPr>
          <a:xfrm>
            <a:off x="4918075" y="408622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94495D-49B2-4B16-9F0C-BF40E8CD2617}"/>
              </a:ext>
            </a:extLst>
          </p:cNvPr>
          <p:cNvSpPr>
            <a:spLocks noGrp="1"/>
          </p:cNvSpPr>
          <p:nvPr/>
        </p:nvSpPr>
        <p:spPr>
          <a:xfrm>
            <a:off x="4832350" y="406717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14B9D7-4103-4AD5-B49D-2DC57C15B6C6}"/>
              </a:ext>
            </a:extLst>
          </p:cNvPr>
          <p:cNvSpPr>
            <a:spLocks noGrp="1"/>
          </p:cNvSpPr>
          <p:nvPr/>
        </p:nvSpPr>
        <p:spPr>
          <a:xfrm>
            <a:off x="5251450" y="38100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Limite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ED48DD-B2D4-406D-BB91-B366B1005314}"/>
              </a:ext>
            </a:extLst>
          </p:cNvPr>
          <p:cNvSpPr>
            <a:spLocks noGrp="1"/>
          </p:cNvSpPr>
          <p:nvPr/>
        </p:nvSpPr>
        <p:spPr>
          <a:xfrm>
            <a:off x="4641850" y="4419600"/>
            <a:ext cx="29273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Une recherche purement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lexicale peut rater des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resultats utiles si les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termes exacts n'apparaissent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pas ou si les formulations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divergent.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6D0E3C11-CB72-4652-AC9A-82688F7A5DF0}"/>
              </a:ext>
            </a:extLst>
          </p:cNvPr>
          <p:cNvSpPr>
            <a:spLocks noGrp="1"/>
          </p:cNvSpPr>
          <p:nvPr/>
        </p:nvSpPr>
        <p:spPr>
          <a:xfrm>
            <a:off x="8026400" y="3600450"/>
            <a:ext cx="3384550" cy="2171700"/>
          </a:xfrm>
          <a:prstGeom prst="roundRect">
            <a:avLst>
              <a:gd name="adj" fmla="val 350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18C4555-54A3-427C-AEE0-A9B42F953842}"/>
              </a:ext>
            </a:extLst>
          </p:cNvPr>
          <p:cNvSpPr>
            <a:spLocks noGrp="1"/>
          </p:cNvSpPr>
          <p:nvPr/>
        </p:nvSpPr>
        <p:spPr>
          <a:xfrm>
            <a:off x="8026400" y="3600450"/>
            <a:ext cx="76200" cy="21717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912A1A8A-8141-4BF1-90D8-93D6257628FD}"/>
              </a:ext>
            </a:extLst>
          </p:cNvPr>
          <p:cNvSpPr>
            <a:spLocks noGrp="1"/>
          </p:cNvSpPr>
          <p:nvPr/>
        </p:nvSpPr>
        <p:spPr>
          <a:xfrm>
            <a:off x="8235950" y="38290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37FF645A-272C-4E94-B9DB-00D01C5D4CF4}"/>
              </a:ext>
            </a:extLst>
          </p:cNvPr>
          <p:cNvSpPr>
            <a:spLocks noGrp="1"/>
          </p:cNvSpPr>
          <p:nvPr/>
        </p:nvSpPr>
        <p:spPr>
          <a:xfrm>
            <a:off x="8359775" y="39719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3611A946-36C6-4C39-A4F3-9F7C90CFC212}"/>
              </a:ext>
            </a:extLst>
          </p:cNvPr>
          <p:cNvSpPr>
            <a:spLocks noGrp="1"/>
          </p:cNvSpPr>
          <p:nvPr/>
        </p:nvSpPr>
        <p:spPr>
          <a:xfrm>
            <a:off x="8407400" y="40576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BB0616B5-2AB2-4624-9A7D-9D5F83560345}"/>
              </a:ext>
            </a:extLst>
          </p:cNvPr>
          <p:cNvSpPr>
            <a:spLocks noGrp="1"/>
          </p:cNvSpPr>
          <p:nvPr/>
        </p:nvSpPr>
        <p:spPr>
          <a:xfrm>
            <a:off x="8455025" y="41433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BB53D6B-2804-437C-A079-0B520B13FA69}"/>
              </a:ext>
            </a:extLst>
          </p:cNvPr>
          <p:cNvSpPr>
            <a:spLocks noGrp="1"/>
          </p:cNvSpPr>
          <p:nvPr/>
        </p:nvSpPr>
        <p:spPr>
          <a:xfrm>
            <a:off x="8864600" y="38100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Reponse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628C597-05CE-4995-955B-C4F481296527}"/>
              </a:ext>
            </a:extLst>
          </p:cNvPr>
          <p:cNvSpPr>
            <a:spLocks noGrp="1"/>
          </p:cNvSpPr>
          <p:nvPr/>
        </p:nvSpPr>
        <p:spPr>
          <a:xfrm>
            <a:off x="8255000" y="4419600"/>
            <a:ext cx="29273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FoodSense cherche a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rapprocher la requete du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sens present dans les avis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agregees, tout en gardant un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comportement robuste.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963F750-64D5-4DD5-B48D-29C64B9A544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0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FoodSense V1 | Recherche semantique sur documents produits reconstruits</a:t>
            </a:r>
          </a:p>
        </p:txBody>
      </p:sp>
    </p:spTree>
    <p:extLst>
      <p:ext uri="{BB962C8B-B14F-4D97-AF65-F5344CB8AC3E}">
        <p14:creationId xmlns:p14="http://schemas.microsoft.com/office/powerpoint/2010/main" val="313109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1E98108-7737-4F40-B852-7643EDEEE73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AD8A987F-C06E-4F7F-B66A-65ADACEBC4A2}"/>
              </a:ext>
            </a:extLst>
          </p:cNvPr>
          <p:cNvSpPr>
            <a:spLocks noGrp="1"/>
          </p:cNvSpPr>
          <p:nvPr/>
        </p:nvSpPr>
        <p:spPr>
          <a:xfrm>
            <a:off x="-1133573" y="-857250"/>
            <a:ext cx="4000500" cy="3048000"/>
          </a:xfrm>
          <a:prstGeom prst="ellipse">
            <a:avLst/>
          </a:prstGeom>
          <a:solidFill>
            <a:srgbClr val="E9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4AEBB3D3-87D6-49E8-A8D0-82CD577F4F9E}"/>
              </a:ext>
            </a:extLst>
          </p:cNvPr>
          <p:cNvSpPr>
            <a:spLocks noGrp="1"/>
          </p:cNvSpPr>
          <p:nvPr/>
        </p:nvSpPr>
        <p:spPr>
          <a:xfrm>
            <a:off x="9525000" y="-381000"/>
            <a:ext cx="2476500" cy="2095500"/>
          </a:xfrm>
          <a:prstGeom prst="ellipse">
            <a:avLst/>
          </a:prstGeom>
          <a:solidFill>
            <a:srgbClr val="FCE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33746CCB-A1EF-49AA-9E31-9572635FF130}"/>
              </a:ext>
            </a:extLst>
          </p:cNvPr>
          <p:cNvSpPr>
            <a:spLocks noGrp="1"/>
          </p:cNvSpPr>
          <p:nvPr/>
        </p:nvSpPr>
        <p:spPr>
          <a:xfrm>
            <a:off x="8763000" y="4953000"/>
            <a:ext cx="3429000" cy="2476500"/>
          </a:xfrm>
          <a:prstGeom prst="ellipse">
            <a:avLst/>
          </a:prstGeom>
          <a:solidFill>
            <a:srgbClr val="E8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3DEB1D1-04C9-460D-8857-20F027E28E5C}"/>
              </a:ext>
            </a:extLst>
          </p:cNvPr>
          <p:cNvSpPr>
            <a:spLocks noGrp="1"/>
          </p:cNvSpPr>
          <p:nvPr/>
        </p:nvSpPr>
        <p:spPr>
          <a:xfrm>
            <a:off x="533400" y="876300"/>
            <a:ext cx="11125200" cy="5295900"/>
          </a:xfrm>
          <a:prstGeom prst="roundRect">
            <a:avLst>
              <a:gd name="adj" fmla="val 1439"/>
            </a:avLst>
          </a:prstGeom>
          <a:solidFill>
            <a:srgbClr val="FFFFFF">
              <a:alpha val="84706"/>
            </a:srgbClr>
          </a:solidFill>
          <a:ln w="9525">
            <a:solidFill>
              <a:srgbClr val="E5DED1"/>
            </a:solidFill>
            <a:prstDash val="solid"/>
          </a:ln>
        </p:spPr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0DED1A3-A992-48FE-B7C9-71A03F9F2C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279CAB-0566-4A73-9875-A684172A7EA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DATASET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98C43A-4612-41BE-88BF-9A87F6123E03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12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59C31D-7C36-4C83-A802-DB7938ED7B7B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94D957A0-8537-4006-A0BE-3053E59E98CF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BF0CA3-3741-4051-8D9B-358DC0F750FD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667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 dirty="0" err="1">
                <a:solidFill>
                  <a:srgbClr val="101214"/>
                </a:solidFill>
              </a:rPr>
              <a:t>Contrainte</a:t>
            </a:r>
            <a:r>
              <a:rPr sz="3000" b="1" dirty="0">
                <a:solidFill>
                  <a:srgbClr val="101214"/>
                </a:solidFill>
              </a:rPr>
              <a:t> majeure : Amazon Fine Food Reviews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263685-A64C-4D31-B2E3-0162DDF4E759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667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 dirty="0">
                <a:solidFill>
                  <a:srgbClr val="30363A"/>
                </a:solidFill>
              </a:rPr>
              <a:t>Le dataset est </a:t>
            </a:r>
            <a:r>
              <a:rPr sz="1425" b="0" dirty="0" err="1">
                <a:solidFill>
                  <a:srgbClr val="30363A"/>
                </a:solidFill>
              </a:rPr>
              <a:t>interessant</a:t>
            </a:r>
            <a:r>
              <a:rPr sz="1425" b="0" dirty="0">
                <a:solidFill>
                  <a:srgbClr val="30363A"/>
                </a:solidFill>
              </a:rPr>
              <a:t> pour la recherche </a:t>
            </a:r>
            <a:r>
              <a:rPr sz="1425" b="0" dirty="0" err="1">
                <a:solidFill>
                  <a:srgbClr val="30363A"/>
                </a:solidFill>
              </a:rPr>
              <a:t>semantique</a:t>
            </a:r>
            <a:r>
              <a:rPr sz="1425" b="0" dirty="0">
                <a:solidFill>
                  <a:srgbClr val="30363A"/>
                </a:solidFill>
              </a:rPr>
              <a:t>, </a:t>
            </a:r>
            <a:r>
              <a:rPr sz="1425" b="0" dirty="0" err="1">
                <a:solidFill>
                  <a:srgbClr val="30363A"/>
                </a:solidFill>
              </a:rPr>
              <a:t>mais</a:t>
            </a:r>
            <a:r>
              <a:rPr sz="1425" b="0" dirty="0">
                <a:solidFill>
                  <a:srgbClr val="30363A"/>
                </a:solidFill>
              </a:rPr>
              <a:t> il ne </a:t>
            </a:r>
            <a:r>
              <a:rPr sz="1425" b="0" dirty="0" err="1">
                <a:solidFill>
                  <a:srgbClr val="30363A"/>
                </a:solidFill>
              </a:rPr>
              <a:t>fournit</a:t>
            </a:r>
            <a:r>
              <a:rPr sz="1425" b="0" dirty="0">
                <a:solidFill>
                  <a:srgbClr val="30363A"/>
                </a:solidFill>
              </a:rPr>
              <a:t> pas un </a:t>
            </a:r>
            <a:r>
              <a:rPr sz="1425" b="0" dirty="0" err="1">
                <a:solidFill>
                  <a:srgbClr val="30363A"/>
                </a:solidFill>
              </a:rPr>
              <a:t>vrai</a:t>
            </a:r>
            <a:r>
              <a:rPr sz="1425" b="0" dirty="0">
                <a:solidFill>
                  <a:srgbClr val="30363A"/>
                </a:solidFill>
              </a:rPr>
              <a:t> catalogue </a:t>
            </a:r>
            <a:r>
              <a:rPr sz="1425" b="0" dirty="0" err="1">
                <a:solidFill>
                  <a:srgbClr val="30363A"/>
                </a:solidFill>
              </a:rPr>
              <a:t>produit</a:t>
            </a:r>
            <a:r>
              <a:rPr sz="1425" b="0" dirty="0">
                <a:solidFill>
                  <a:srgbClr val="30363A"/>
                </a:solidFill>
              </a:rPr>
              <a:t> riche avec un nom propre stable et des </a:t>
            </a:r>
            <a:r>
              <a:rPr sz="1425" b="0" dirty="0" err="1">
                <a:solidFill>
                  <a:srgbClr val="30363A"/>
                </a:solidFill>
              </a:rPr>
              <a:t>metadonnees</a:t>
            </a:r>
            <a:r>
              <a:rPr sz="1425" b="0" dirty="0">
                <a:solidFill>
                  <a:srgbClr val="30363A"/>
                </a:solidFill>
              </a:rPr>
              <a:t> </a:t>
            </a:r>
            <a:r>
              <a:rPr sz="1425" b="0" dirty="0" err="1">
                <a:solidFill>
                  <a:srgbClr val="30363A"/>
                </a:solidFill>
              </a:rPr>
              <a:t>nutritionnelles</a:t>
            </a:r>
            <a:r>
              <a:rPr sz="1425" b="0" dirty="0">
                <a:solidFill>
                  <a:srgbClr val="30363A"/>
                </a:solidFill>
              </a:rPr>
              <a:t> </a:t>
            </a:r>
            <a:r>
              <a:rPr sz="1425" b="0" dirty="0" err="1">
                <a:solidFill>
                  <a:srgbClr val="30363A"/>
                </a:solidFill>
              </a:rPr>
              <a:t>structurees</a:t>
            </a:r>
            <a:r>
              <a:rPr sz="1425" b="0" dirty="0">
                <a:solidFill>
                  <a:srgbClr val="30363A"/>
                </a:solidFill>
              </a:rPr>
              <a:t>.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26CB02BB-F9B2-40BA-8BA6-9E5414D31B5C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33E371-2D90-454D-9B56-5F287A1AA1B3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666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7203A5-82A3-4803-9E8C-1962B86F1071}"/>
              </a:ext>
            </a:extLst>
          </p:cNvPr>
          <p:cNvSpPr>
            <a:spLocks noGrp="1"/>
          </p:cNvSpPr>
          <p:nvPr/>
        </p:nvSpPr>
        <p:spPr>
          <a:xfrm>
            <a:off x="10858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ProductId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6A1BD4-BC2B-411E-85DE-E124A008AE04}"/>
              </a:ext>
            </a:extLst>
          </p:cNvPr>
          <p:cNvSpPr>
            <a:spLocks noGrp="1"/>
          </p:cNvSpPr>
          <p:nvPr/>
        </p:nvSpPr>
        <p:spPr>
          <a:xfrm>
            <a:off x="11049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Unite de recherche V1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35EFF6-7ED0-43EF-9EAD-5950ADC50273}"/>
              </a:ext>
            </a:extLst>
          </p:cNvPr>
          <p:cNvSpPr>
            <a:spLocks noGrp="1"/>
          </p:cNvSpPr>
          <p:nvPr/>
        </p:nvSpPr>
        <p:spPr>
          <a:xfrm>
            <a:off x="11049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 dirty="0">
                <a:solidFill>
                  <a:srgbClr val="687076"/>
                </a:solidFill>
              </a:rPr>
              <a:t>Le </a:t>
            </a:r>
            <a:r>
              <a:rPr sz="750" b="0" dirty="0" err="1">
                <a:solidFill>
                  <a:srgbClr val="687076"/>
                </a:solidFill>
              </a:rPr>
              <a:t>produit</a:t>
            </a:r>
            <a:r>
              <a:rPr sz="750" b="0" dirty="0">
                <a:solidFill>
                  <a:srgbClr val="687076"/>
                </a:solidFill>
              </a:rPr>
              <a:t> est </a:t>
            </a:r>
            <a:r>
              <a:rPr sz="750" b="0" dirty="0" err="1">
                <a:solidFill>
                  <a:srgbClr val="687076"/>
                </a:solidFill>
              </a:rPr>
              <a:t>reconstruit</a:t>
            </a:r>
            <a:r>
              <a:rPr sz="750" b="0" dirty="0">
                <a:solidFill>
                  <a:srgbClr val="687076"/>
                </a:solidFill>
              </a:rPr>
              <a:t> </a:t>
            </a:r>
            <a:r>
              <a:rPr sz="750" b="0" dirty="0" err="1">
                <a:solidFill>
                  <a:srgbClr val="687076"/>
                </a:solidFill>
              </a:rPr>
              <a:t>autour</a:t>
            </a:r>
            <a:r>
              <a:rPr sz="750" b="0" dirty="0">
                <a:solidFill>
                  <a:srgbClr val="687076"/>
                </a:solidFill>
              </a:rPr>
              <a:t> de </a:t>
            </a:r>
            <a:r>
              <a:rPr sz="750" b="0" dirty="0" err="1">
                <a:solidFill>
                  <a:srgbClr val="687076"/>
                </a:solidFill>
              </a:rPr>
              <a:t>ProductId</a:t>
            </a:r>
            <a:r>
              <a:rPr sz="750" b="0" dirty="0">
                <a:solidFill>
                  <a:srgbClr val="687076"/>
                </a:solidFill>
              </a:rPr>
              <a:t>.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FE43168E-CEEC-4275-AF51-354DFE027B20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6EE1E3-6078-4737-ACF8-79EDD46A6C83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66675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FAE355-3E34-4C0A-A9AC-740CE1B1663B}"/>
              </a:ext>
            </a:extLst>
          </p:cNvPr>
          <p:cNvSpPr>
            <a:spLocks noGrp="1"/>
          </p:cNvSpPr>
          <p:nvPr/>
        </p:nvSpPr>
        <p:spPr>
          <a:xfrm>
            <a:off x="461010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Avis agregees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D8A74E-CF04-4DF0-930B-5CE93B80E01C}"/>
              </a:ext>
            </a:extLst>
          </p:cNvPr>
          <p:cNvSpPr>
            <a:spLocks noGrp="1"/>
          </p:cNvSpPr>
          <p:nvPr/>
        </p:nvSpPr>
        <p:spPr>
          <a:xfrm>
            <a:off x="462915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Matiere principale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467CBD-8707-4C9C-BF6D-68144094DE43}"/>
              </a:ext>
            </a:extLst>
          </p:cNvPr>
          <p:cNvSpPr>
            <a:spLocks noGrp="1"/>
          </p:cNvSpPr>
          <p:nvPr/>
        </p:nvSpPr>
        <p:spPr>
          <a:xfrm>
            <a:off x="462915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Summary, Text, note moyenne et nombre d'avis.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026FAC6D-3B75-4A5E-B065-55E6E6640630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75B221-23D6-4F7A-930D-AA8F77E2EC16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66675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C71689-3EF5-4885-8D82-9473432E8103}"/>
              </a:ext>
            </a:extLst>
          </p:cNvPr>
          <p:cNvSpPr>
            <a:spLocks noGrp="1"/>
          </p:cNvSpPr>
          <p:nvPr/>
        </p:nvSpPr>
        <p:spPr>
          <a:xfrm>
            <a:off x="8134350" y="4076700"/>
            <a:ext cx="304584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 dirty="0">
                <a:solidFill>
                  <a:srgbClr val="101214"/>
                </a:solidFill>
              </a:rPr>
              <a:t>Pas de </a:t>
            </a:r>
            <a:r>
              <a:rPr sz="2550" b="1" dirty="0" err="1">
                <a:solidFill>
                  <a:srgbClr val="101214"/>
                </a:solidFill>
              </a:rPr>
              <a:t>vrai</a:t>
            </a:r>
            <a:r>
              <a:rPr sz="2550" b="1" dirty="0">
                <a:solidFill>
                  <a:srgbClr val="101214"/>
                </a:solidFill>
              </a:rPr>
              <a:t> catalogue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D128FC-7E2E-4210-B748-C325E890D91E}"/>
              </a:ext>
            </a:extLst>
          </p:cNvPr>
          <p:cNvSpPr>
            <a:spLocks noGrp="1"/>
          </p:cNvSpPr>
          <p:nvPr/>
        </p:nvSpPr>
        <p:spPr>
          <a:xfrm>
            <a:off x="81534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Limite metier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005757-28CD-4FF8-BA5B-68B4134CBD05}"/>
              </a:ext>
            </a:extLst>
          </p:cNvPr>
          <p:cNvSpPr>
            <a:spLocks noGrp="1"/>
          </p:cNvSpPr>
          <p:nvPr/>
        </p:nvSpPr>
        <p:spPr>
          <a:xfrm>
            <a:off x="81534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Pas de product_name officiel fiable pour un RAG complet.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CAB118-2A3E-48AA-8D31-2E4617F1BC4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0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FoodSense V1 | Recherche semantique sur documents produits reconstruits</a:t>
            </a:r>
          </a:p>
        </p:txBody>
      </p:sp>
    </p:spTree>
    <p:extLst>
      <p:ext uri="{BB962C8B-B14F-4D97-AF65-F5344CB8AC3E}">
        <p14:creationId xmlns:p14="http://schemas.microsoft.com/office/powerpoint/2010/main" val="493567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61E98108-7737-4F40-B852-7643EDEEE73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71F47C83-DE89-4C48-831A-02EE818BDDC5}"/>
              </a:ext>
            </a:extLst>
          </p:cNvPr>
          <p:cNvSpPr>
            <a:spLocks noGrp="1"/>
          </p:cNvSpPr>
          <p:nvPr/>
        </p:nvSpPr>
        <p:spPr>
          <a:xfrm>
            <a:off x="-1143000" y="-857250"/>
            <a:ext cx="4000500" cy="3048000"/>
          </a:xfrm>
          <a:prstGeom prst="ellipse">
            <a:avLst/>
          </a:prstGeom>
          <a:solidFill>
            <a:srgbClr val="E9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009F0C52-1AA8-4F3B-B61D-D85042DE74BC}"/>
              </a:ext>
            </a:extLst>
          </p:cNvPr>
          <p:cNvSpPr>
            <a:spLocks noGrp="1"/>
          </p:cNvSpPr>
          <p:nvPr/>
        </p:nvSpPr>
        <p:spPr>
          <a:xfrm>
            <a:off x="9525000" y="-381000"/>
            <a:ext cx="2476500" cy="2095500"/>
          </a:xfrm>
          <a:prstGeom prst="ellipse">
            <a:avLst/>
          </a:prstGeom>
          <a:solidFill>
            <a:srgbClr val="FCE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3C0923C8-90A5-44D1-B16E-04D200CD166D}"/>
              </a:ext>
            </a:extLst>
          </p:cNvPr>
          <p:cNvSpPr>
            <a:spLocks noGrp="1"/>
          </p:cNvSpPr>
          <p:nvPr/>
        </p:nvSpPr>
        <p:spPr>
          <a:xfrm>
            <a:off x="8763000" y="4953000"/>
            <a:ext cx="3429000" cy="2476500"/>
          </a:xfrm>
          <a:prstGeom prst="ellipse">
            <a:avLst/>
          </a:prstGeom>
          <a:solidFill>
            <a:srgbClr val="E8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345E9645-7DFF-4B20-A114-D5069FCC6590}"/>
              </a:ext>
            </a:extLst>
          </p:cNvPr>
          <p:cNvSpPr>
            <a:spLocks noGrp="1"/>
          </p:cNvSpPr>
          <p:nvPr/>
        </p:nvSpPr>
        <p:spPr>
          <a:xfrm>
            <a:off x="533400" y="876300"/>
            <a:ext cx="11125200" cy="5295900"/>
          </a:xfrm>
          <a:prstGeom prst="roundRect">
            <a:avLst>
              <a:gd name="adj" fmla="val 1439"/>
            </a:avLst>
          </a:prstGeom>
          <a:solidFill>
            <a:srgbClr val="FFFFFF">
              <a:alpha val="84706"/>
            </a:srgbClr>
          </a:solidFill>
          <a:ln w="9525">
            <a:solidFill>
              <a:srgbClr val="E5DED1"/>
            </a:solidFill>
            <a:prstDash val="solid"/>
          </a:ln>
        </p:spPr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F4CBD48-579B-4893-A19C-11CC4C13AC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C38F8E-0E9D-4447-9E27-DF71DFDDBB7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CADRAGE V1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F2BE5A-BFCC-4612-8A2D-813CA1B2A520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12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DC1AB7-B325-45FB-B8EB-B6286EA60007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FB41D79-1D0D-4470-9A46-0096AAB14F91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61B19E-61E6-409B-905F-3242BCDDC599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Ce que la V1 fait vraiment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056A3B-FECF-44F8-AB59-097C0FDF35A4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Nous avons volontairement choisi un perimetre defendable, en livrant une recherche semantique sur documents produits reconstruits plutot qu'une recommandation nutritionnelle fragile.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E9E346EA-A8BA-40FF-9DF0-1AFAA8AF459B}"/>
              </a:ext>
            </a:extLst>
          </p:cNvPr>
          <p:cNvSpPr>
            <a:spLocks noGrp="1"/>
          </p:cNvSpPr>
          <p:nvPr/>
        </p:nvSpPr>
        <p:spPr>
          <a:xfrm>
            <a:off x="800100" y="3600450"/>
            <a:ext cx="3384550" cy="2171700"/>
          </a:xfrm>
          <a:prstGeom prst="roundRect">
            <a:avLst>
              <a:gd name="adj" fmla="val 350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24592A-7727-4623-BB9E-85B0D96B9BB5}"/>
              </a:ext>
            </a:extLst>
          </p:cNvPr>
          <p:cNvSpPr>
            <a:spLocks noGrp="1"/>
          </p:cNvSpPr>
          <p:nvPr/>
        </p:nvSpPr>
        <p:spPr>
          <a:xfrm>
            <a:off x="800100" y="3600450"/>
            <a:ext cx="76200" cy="21717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A4FEC46A-B896-4A33-A768-B8ABC9A9C776}"/>
              </a:ext>
            </a:extLst>
          </p:cNvPr>
          <p:cNvSpPr>
            <a:spLocks noGrp="1"/>
          </p:cNvSpPr>
          <p:nvPr/>
        </p:nvSpPr>
        <p:spPr>
          <a:xfrm>
            <a:off x="1009650" y="38290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30CD7E-E29E-48E1-BA28-3AE0AC6DE6B7}"/>
              </a:ext>
            </a:extLst>
          </p:cNvPr>
          <p:cNvSpPr>
            <a:spLocks noGrp="1"/>
          </p:cNvSpPr>
          <p:nvPr/>
        </p:nvSpPr>
        <p:spPr>
          <a:xfrm>
            <a:off x="1162050" y="410527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4B7803-2188-487C-BE67-BD4CA6CD1D95}"/>
              </a:ext>
            </a:extLst>
          </p:cNvPr>
          <p:cNvSpPr>
            <a:spLocks noGrp="1"/>
          </p:cNvSpPr>
          <p:nvPr/>
        </p:nvSpPr>
        <p:spPr>
          <a:xfrm>
            <a:off x="1247775" y="402907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2735F8-4871-4972-B3DA-6EEE52F4BBE3}"/>
              </a:ext>
            </a:extLst>
          </p:cNvPr>
          <p:cNvSpPr>
            <a:spLocks noGrp="1"/>
          </p:cNvSpPr>
          <p:nvPr/>
        </p:nvSpPr>
        <p:spPr>
          <a:xfrm>
            <a:off x="1333500" y="396240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414770-35C4-433E-A79D-061058D5E9BD}"/>
              </a:ext>
            </a:extLst>
          </p:cNvPr>
          <p:cNvSpPr>
            <a:spLocks noGrp="1"/>
          </p:cNvSpPr>
          <p:nvPr/>
        </p:nvSpPr>
        <p:spPr>
          <a:xfrm>
            <a:off x="1638300" y="38100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Recherche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76CB9B-CEB4-4989-8574-29762C20A746}"/>
              </a:ext>
            </a:extLst>
          </p:cNvPr>
          <p:cNvSpPr>
            <a:spLocks noGrp="1"/>
          </p:cNvSpPr>
          <p:nvPr/>
        </p:nvSpPr>
        <p:spPr>
          <a:xfrm>
            <a:off x="1028700" y="4419600"/>
            <a:ext cx="29273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Chaque produit est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represente par un document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 recherche construit a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partir de Summary, Text,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note moyenne et nombre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d'avis.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A3E19C03-926E-4B2E-898A-2C9413D62169}"/>
              </a:ext>
            </a:extLst>
          </p:cNvPr>
          <p:cNvSpPr>
            <a:spLocks noGrp="1"/>
          </p:cNvSpPr>
          <p:nvPr/>
        </p:nvSpPr>
        <p:spPr>
          <a:xfrm>
            <a:off x="4413250" y="3600450"/>
            <a:ext cx="3384550" cy="2171700"/>
          </a:xfrm>
          <a:prstGeom prst="roundRect">
            <a:avLst>
              <a:gd name="adj" fmla="val 350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E1962B-B2CA-4BEC-B709-CBDBB1CBBF97}"/>
              </a:ext>
            </a:extLst>
          </p:cNvPr>
          <p:cNvSpPr>
            <a:spLocks noGrp="1"/>
          </p:cNvSpPr>
          <p:nvPr/>
        </p:nvSpPr>
        <p:spPr>
          <a:xfrm>
            <a:off x="4413250" y="3600450"/>
            <a:ext cx="76200" cy="21717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48E6541B-A03D-427D-BB62-FFFD0277D62E}"/>
              </a:ext>
            </a:extLst>
          </p:cNvPr>
          <p:cNvSpPr>
            <a:spLocks noGrp="1"/>
          </p:cNvSpPr>
          <p:nvPr/>
        </p:nvSpPr>
        <p:spPr>
          <a:xfrm>
            <a:off x="4622800" y="38290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566824A3-E2A2-426E-85A3-F7147C87815C}"/>
              </a:ext>
            </a:extLst>
          </p:cNvPr>
          <p:cNvSpPr>
            <a:spLocks noGrp="1"/>
          </p:cNvSpPr>
          <p:nvPr/>
        </p:nvSpPr>
        <p:spPr>
          <a:xfrm>
            <a:off x="4746625" y="400050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6D14446B-321C-4E11-B071-7BFDA5B827E6}"/>
              </a:ext>
            </a:extLst>
          </p:cNvPr>
          <p:cNvSpPr>
            <a:spLocks noGrp="1"/>
          </p:cNvSpPr>
          <p:nvPr/>
        </p:nvSpPr>
        <p:spPr>
          <a:xfrm>
            <a:off x="4918075" y="408622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8FBD9F-7404-4CD6-89C7-CB4444522A59}"/>
              </a:ext>
            </a:extLst>
          </p:cNvPr>
          <p:cNvSpPr>
            <a:spLocks noGrp="1"/>
          </p:cNvSpPr>
          <p:nvPr/>
        </p:nvSpPr>
        <p:spPr>
          <a:xfrm>
            <a:off x="4832350" y="406717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BB8915-48C7-45D0-BC5F-4E22DC69BA9B}"/>
              </a:ext>
            </a:extLst>
          </p:cNvPr>
          <p:cNvSpPr>
            <a:spLocks noGrp="1"/>
          </p:cNvSpPr>
          <p:nvPr/>
        </p:nvSpPr>
        <p:spPr>
          <a:xfrm>
            <a:off x="5251450" y="38100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Interface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2C9B055-AFD1-443A-8091-300DC8B3F3F9}"/>
              </a:ext>
            </a:extLst>
          </p:cNvPr>
          <p:cNvSpPr>
            <a:spLocks noGrp="1"/>
          </p:cNvSpPr>
          <p:nvPr/>
        </p:nvSpPr>
        <p:spPr>
          <a:xfrm>
            <a:off x="4641850" y="4419600"/>
            <a:ext cx="29273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Le frontend affiche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ProductId, label infere,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extraits utiles, score de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pertinence et un bouton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Resume centre sur les avis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clients.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AFDACB57-6B00-4B02-B93D-47CBB30E62E4}"/>
              </a:ext>
            </a:extLst>
          </p:cNvPr>
          <p:cNvSpPr>
            <a:spLocks noGrp="1"/>
          </p:cNvSpPr>
          <p:nvPr/>
        </p:nvSpPr>
        <p:spPr>
          <a:xfrm>
            <a:off x="8026400" y="3600450"/>
            <a:ext cx="3384550" cy="2171700"/>
          </a:xfrm>
          <a:prstGeom prst="roundRect">
            <a:avLst>
              <a:gd name="adj" fmla="val 350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D1E660B-31E2-41FF-9A47-7F2502572BD9}"/>
              </a:ext>
            </a:extLst>
          </p:cNvPr>
          <p:cNvSpPr>
            <a:spLocks noGrp="1"/>
          </p:cNvSpPr>
          <p:nvPr/>
        </p:nvSpPr>
        <p:spPr>
          <a:xfrm>
            <a:off x="8026400" y="3600450"/>
            <a:ext cx="76200" cy="21717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0EF72BB3-B36F-44B1-9DF4-3218924E6E41}"/>
              </a:ext>
            </a:extLst>
          </p:cNvPr>
          <p:cNvSpPr>
            <a:spLocks noGrp="1"/>
          </p:cNvSpPr>
          <p:nvPr/>
        </p:nvSpPr>
        <p:spPr>
          <a:xfrm>
            <a:off x="8235950" y="38290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86E3DD25-FF91-4AC7-896B-D2E990C806B9}"/>
              </a:ext>
            </a:extLst>
          </p:cNvPr>
          <p:cNvSpPr>
            <a:spLocks noGrp="1"/>
          </p:cNvSpPr>
          <p:nvPr/>
        </p:nvSpPr>
        <p:spPr>
          <a:xfrm>
            <a:off x="8359775" y="39719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E89E05E6-10C9-48E9-81AD-DA3C70B9ADE1}"/>
              </a:ext>
            </a:extLst>
          </p:cNvPr>
          <p:cNvSpPr>
            <a:spLocks noGrp="1"/>
          </p:cNvSpPr>
          <p:nvPr/>
        </p:nvSpPr>
        <p:spPr>
          <a:xfrm>
            <a:off x="8407400" y="40576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50AA90D5-5846-491D-BB07-750189908775}"/>
              </a:ext>
            </a:extLst>
          </p:cNvPr>
          <p:cNvSpPr>
            <a:spLocks noGrp="1"/>
          </p:cNvSpPr>
          <p:nvPr/>
        </p:nvSpPr>
        <p:spPr>
          <a:xfrm>
            <a:off x="8455025" y="41433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D45359-AE7E-4CA1-9144-03C4CA56ACE6}"/>
              </a:ext>
            </a:extLst>
          </p:cNvPr>
          <p:cNvSpPr>
            <a:spLocks noGrp="1"/>
          </p:cNvSpPr>
          <p:nvPr/>
        </p:nvSpPr>
        <p:spPr>
          <a:xfrm>
            <a:off x="8864600" y="38100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Honnetete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F5E4C54-BCB8-45E0-AC99-1780408C594A}"/>
              </a:ext>
            </a:extLst>
          </p:cNvPr>
          <p:cNvSpPr>
            <a:spLocks noGrp="1"/>
          </p:cNvSpPr>
          <p:nvPr/>
        </p:nvSpPr>
        <p:spPr>
          <a:xfrm>
            <a:off x="8255000" y="4419600"/>
            <a:ext cx="29273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La V1 n'est ni un moteur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medical ni un RAG complet;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elle pose une base fiable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pour une V2 enrichie.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3FD2C76-303A-4A50-AA6E-9BAB1610600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0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FoodSense V1 | Recherche semantique sur documents produits reconstruits</a:t>
            </a:r>
          </a:p>
        </p:txBody>
      </p:sp>
    </p:spTree>
    <p:extLst>
      <p:ext uri="{BB962C8B-B14F-4D97-AF65-F5344CB8AC3E}">
        <p14:creationId xmlns:p14="http://schemas.microsoft.com/office/powerpoint/2010/main" val="332076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61E98108-7737-4F40-B852-7643EDEEE73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4CD138BA-BC2C-4202-86A5-94DFF8D6AC17}"/>
              </a:ext>
            </a:extLst>
          </p:cNvPr>
          <p:cNvSpPr>
            <a:spLocks noGrp="1"/>
          </p:cNvSpPr>
          <p:nvPr/>
        </p:nvSpPr>
        <p:spPr>
          <a:xfrm>
            <a:off x="-1143000" y="-857250"/>
            <a:ext cx="4000500" cy="3048000"/>
          </a:xfrm>
          <a:prstGeom prst="ellipse">
            <a:avLst/>
          </a:prstGeom>
          <a:solidFill>
            <a:srgbClr val="E9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A43F081-EBB6-45E2-85D2-C4F882726FDF}"/>
              </a:ext>
            </a:extLst>
          </p:cNvPr>
          <p:cNvSpPr>
            <a:spLocks noGrp="1"/>
          </p:cNvSpPr>
          <p:nvPr/>
        </p:nvSpPr>
        <p:spPr>
          <a:xfrm>
            <a:off x="9525000" y="-381000"/>
            <a:ext cx="2476500" cy="2095500"/>
          </a:xfrm>
          <a:prstGeom prst="ellipse">
            <a:avLst/>
          </a:prstGeom>
          <a:solidFill>
            <a:srgbClr val="FCE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93B8F0F9-0B1C-4913-ABAA-BF72B44CB1E6}"/>
              </a:ext>
            </a:extLst>
          </p:cNvPr>
          <p:cNvSpPr>
            <a:spLocks noGrp="1"/>
          </p:cNvSpPr>
          <p:nvPr/>
        </p:nvSpPr>
        <p:spPr>
          <a:xfrm>
            <a:off x="8763000" y="4953000"/>
            <a:ext cx="3429000" cy="2476500"/>
          </a:xfrm>
          <a:prstGeom prst="ellipse">
            <a:avLst/>
          </a:prstGeom>
          <a:solidFill>
            <a:srgbClr val="E8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D70639E-8C53-4217-829E-26BBF7338E6A}"/>
              </a:ext>
            </a:extLst>
          </p:cNvPr>
          <p:cNvSpPr>
            <a:spLocks noGrp="1"/>
          </p:cNvSpPr>
          <p:nvPr/>
        </p:nvSpPr>
        <p:spPr>
          <a:xfrm>
            <a:off x="533400" y="876300"/>
            <a:ext cx="11125200" cy="5295900"/>
          </a:xfrm>
          <a:prstGeom prst="roundRect">
            <a:avLst>
              <a:gd name="adj" fmla="val 1439"/>
            </a:avLst>
          </a:prstGeom>
          <a:solidFill>
            <a:srgbClr val="FFFFFF">
              <a:alpha val="84706"/>
            </a:srgbClr>
          </a:solidFill>
          <a:ln w="9525">
            <a:solidFill>
              <a:srgbClr val="E5DED1"/>
            </a:solidFill>
            <a:prstDash val="solid"/>
          </a:ln>
        </p:spPr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239997F-9567-4851-92F5-83BA4C937C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25815F-C934-4129-86EF-01DE089AC1D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PIPELINE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880D71-4C19-4202-A84B-DA8524B190F8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12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43C1F8-4266-443C-93EB-E117C3742BA3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503D327-0F4B-4B5C-9CD6-122A147CBCE6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5FBE53-DF1A-42D3-8B60-7FEB1E2ED4F6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Du CSV aux documents produits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F45A72-37FE-425A-A379-C54C44861661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Le pipeline prepare le corpus avant la recherche: nettoyage, agregation et generation de documents produits prets pour la vectorisation.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EB6E5E4-B392-4C56-958A-D4D0621C91AC}"/>
              </a:ext>
            </a:extLst>
          </p:cNvPr>
          <p:cNvSpPr>
            <a:spLocks noGrp="1"/>
          </p:cNvSpPr>
          <p:nvPr/>
        </p:nvSpPr>
        <p:spPr>
          <a:xfrm>
            <a:off x="800100" y="3600450"/>
            <a:ext cx="3384550" cy="2171700"/>
          </a:xfrm>
          <a:prstGeom prst="roundRect">
            <a:avLst>
              <a:gd name="adj" fmla="val 350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9B60BE-8903-4769-90E6-4305BB1388FB}"/>
              </a:ext>
            </a:extLst>
          </p:cNvPr>
          <p:cNvSpPr>
            <a:spLocks noGrp="1"/>
          </p:cNvSpPr>
          <p:nvPr/>
        </p:nvSpPr>
        <p:spPr>
          <a:xfrm>
            <a:off x="800100" y="3600450"/>
            <a:ext cx="76200" cy="21717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D0819A44-82E0-44A8-A6A4-C445616487B9}"/>
              </a:ext>
            </a:extLst>
          </p:cNvPr>
          <p:cNvSpPr>
            <a:spLocks noGrp="1"/>
          </p:cNvSpPr>
          <p:nvPr/>
        </p:nvSpPr>
        <p:spPr>
          <a:xfrm>
            <a:off x="1009650" y="38290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F42BDB-C760-4F17-AE3A-E1F7DEB75519}"/>
              </a:ext>
            </a:extLst>
          </p:cNvPr>
          <p:cNvSpPr>
            <a:spLocks noGrp="1"/>
          </p:cNvSpPr>
          <p:nvPr/>
        </p:nvSpPr>
        <p:spPr>
          <a:xfrm>
            <a:off x="1162050" y="410527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474D26-DC59-457E-88E1-3E6A5D5EF053}"/>
              </a:ext>
            </a:extLst>
          </p:cNvPr>
          <p:cNvSpPr>
            <a:spLocks noGrp="1"/>
          </p:cNvSpPr>
          <p:nvPr/>
        </p:nvSpPr>
        <p:spPr>
          <a:xfrm>
            <a:off x="1247775" y="402907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9039AC-2DEF-4C52-8FAE-FCA225A14586}"/>
              </a:ext>
            </a:extLst>
          </p:cNvPr>
          <p:cNvSpPr>
            <a:spLocks noGrp="1"/>
          </p:cNvSpPr>
          <p:nvPr/>
        </p:nvSpPr>
        <p:spPr>
          <a:xfrm>
            <a:off x="1333500" y="396240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7CA6B5-E09C-46BD-8A86-0420E5E4E4E6}"/>
              </a:ext>
            </a:extLst>
          </p:cNvPr>
          <p:cNvSpPr>
            <a:spLocks noGrp="1"/>
          </p:cNvSpPr>
          <p:nvPr/>
        </p:nvSpPr>
        <p:spPr>
          <a:xfrm>
            <a:off x="1638300" y="38100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Nettoyage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C91DDC-4FF8-4706-AB00-65A4D76DAC87}"/>
              </a:ext>
            </a:extLst>
          </p:cNvPr>
          <p:cNvSpPr>
            <a:spLocks noGrp="1"/>
          </p:cNvSpPr>
          <p:nvPr/>
        </p:nvSpPr>
        <p:spPr>
          <a:xfrm>
            <a:off x="1028700" y="4419600"/>
            <a:ext cx="29273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Les donnees sont preparees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avec Polars afin de retirer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le bruit inutile et de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normaliser les champs utiles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aux traitements suivants.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8E7CE674-0CFF-4C48-92F4-7008C03E4C7D}"/>
              </a:ext>
            </a:extLst>
          </p:cNvPr>
          <p:cNvSpPr>
            <a:spLocks noGrp="1"/>
          </p:cNvSpPr>
          <p:nvPr/>
        </p:nvSpPr>
        <p:spPr>
          <a:xfrm>
            <a:off x="4413250" y="3600450"/>
            <a:ext cx="3384550" cy="2171700"/>
          </a:xfrm>
          <a:prstGeom prst="roundRect">
            <a:avLst>
              <a:gd name="adj" fmla="val 350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346556-68F7-4804-B574-5B399759B36B}"/>
              </a:ext>
            </a:extLst>
          </p:cNvPr>
          <p:cNvSpPr>
            <a:spLocks noGrp="1"/>
          </p:cNvSpPr>
          <p:nvPr/>
        </p:nvSpPr>
        <p:spPr>
          <a:xfrm>
            <a:off x="4413250" y="3600450"/>
            <a:ext cx="76200" cy="21717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20190371-0FF9-48CC-B39E-799CFDCFA67B}"/>
              </a:ext>
            </a:extLst>
          </p:cNvPr>
          <p:cNvSpPr>
            <a:spLocks noGrp="1"/>
          </p:cNvSpPr>
          <p:nvPr/>
        </p:nvSpPr>
        <p:spPr>
          <a:xfrm>
            <a:off x="4622800" y="38290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5C7D9438-0820-484B-BD56-40567CB85F5E}"/>
              </a:ext>
            </a:extLst>
          </p:cNvPr>
          <p:cNvSpPr>
            <a:spLocks noGrp="1"/>
          </p:cNvSpPr>
          <p:nvPr/>
        </p:nvSpPr>
        <p:spPr>
          <a:xfrm>
            <a:off x="4746625" y="400050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FE722CB7-0399-4B03-BD49-077A187656A8}"/>
              </a:ext>
            </a:extLst>
          </p:cNvPr>
          <p:cNvSpPr>
            <a:spLocks noGrp="1"/>
          </p:cNvSpPr>
          <p:nvPr/>
        </p:nvSpPr>
        <p:spPr>
          <a:xfrm>
            <a:off x="4918075" y="408622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3CC17C-F9BF-4579-9E3B-1C006D1E83C4}"/>
              </a:ext>
            </a:extLst>
          </p:cNvPr>
          <p:cNvSpPr>
            <a:spLocks noGrp="1"/>
          </p:cNvSpPr>
          <p:nvPr/>
        </p:nvSpPr>
        <p:spPr>
          <a:xfrm>
            <a:off x="4832350" y="406717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0E7173-B68B-4CBE-B342-E4F16717D69D}"/>
              </a:ext>
            </a:extLst>
          </p:cNvPr>
          <p:cNvSpPr>
            <a:spLocks noGrp="1"/>
          </p:cNvSpPr>
          <p:nvPr/>
        </p:nvSpPr>
        <p:spPr>
          <a:xfrm>
            <a:off x="5251450" y="38100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Agregation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3E9FA1-FCEF-46E2-ABE5-405641D29CD1}"/>
              </a:ext>
            </a:extLst>
          </p:cNvPr>
          <p:cNvSpPr>
            <a:spLocks noGrp="1"/>
          </p:cNvSpPr>
          <p:nvPr/>
        </p:nvSpPr>
        <p:spPr>
          <a:xfrm>
            <a:off x="4641850" y="4419600"/>
            <a:ext cx="29273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Les reviews sont regroupees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par ProductId pour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reconstruire un document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plus riche que chaque avis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isole.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B47F8E76-1A62-4826-A6D6-9FD4A69E28E3}"/>
              </a:ext>
            </a:extLst>
          </p:cNvPr>
          <p:cNvSpPr>
            <a:spLocks noGrp="1"/>
          </p:cNvSpPr>
          <p:nvPr/>
        </p:nvSpPr>
        <p:spPr>
          <a:xfrm>
            <a:off x="8026400" y="3600450"/>
            <a:ext cx="3384550" cy="2171700"/>
          </a:xfrm>
          <a:prstGeom prst="roundRect">
            <a:avLst>
              <a:gd name="adj" fmla="val 350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EAF90F-A58C-4C7C-99E9-B842F696D7D7}"/>
              </a:ext>
            </a:extLst>
          </p:cNvPr>
          <p:cNvSpPr>
            <a:spLocks noGrp="1"/>
          </p:cNvSpPr>
          <p:nvPr/>
        </p:nvSpPr>
        <p:spPr>
          <a:xfrm>
            <a:off x="8026400" y="3600450"/>
            <a:ext cx="76200" cy="21717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14EA1722-2733-432A-BE7D-B8C0E087071F}"/>
              </a:ext>
            </a:extLst>
          </p:cNvPr>
          <p:cNvSpPr>
            <a:spLocks noGrp="1"/>
          </p:cNvSpPr>
          <p:nvPr/>
        </p:nvSpPr>
        <p:spPr>
          <a:xfrm>
            <a:off x="8235950" y="38290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334F701A-E525-4751-A918-37C598D077AD}"/>
              </a:ext>
            </a:extLst>
          </p:cNvPr>
          <p:cNvSpPr>
            <a:spLocks noGrp="1"/>
          </p:cNvSpPr>
          <p:nvPr/>
        </p:nvSpPr>
        <p:spPr>
          <a:xfrm>
            <a:off x="8359775" y="39719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02798F0D-7365-493A-8575-1880FC0E2BEC}"/>
              </a:ext>
            </a:extLst>
          </p:cNvPr>
          <p:cNvSpPr>
            <a:spLocks noGrp="1"/>
          </p:cNvSpPr>
          <p:nvPr/>
        </p:nvSpPr>
        <p:spPr>
          <a:xfrm>
            <a:off x="8407400" y="40576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136C3E6D-19C5-4D1A-B566-4662C3CD57D2}"/>
              </a:ext>
            </a:extLst>
          </p:cNvPr>
          <p:cNvSpPr>
            <a:spLocks noGrp="1"/>
          </p:cNvSpPr>
          <p:nvPr/>
        </p:nvSpPr>
        <p:spPr>
          <a:xfrm>
            <a:off x="8455025" y="41433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B193700-5FF1-4DC4-A104-3F74C5373033}"/>
              </a:ext>
            </a:extLst>
          </p:cNvPr>
          <p:cNvSpPr>
            <a:spLocks noGrp="1"/>
          </p:cNvSpPr>
          <p:nvPr/>
        </p:nvSpPr>
        <p:spPr>
          <a:xfrm>
            <a:off x="8864600" y="38100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Artefacts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F2A6D4D-013F-4FC0-9801-44CF482E3E2F}"/>
              </a:ext>
            </a:extLst>
          </p:cNvPr>
          <p:cNvSpPr>
            <a:spLocks noGrp="1"/>
          </p:cNvSpPr>
          <p:nvPr/>
        </p:nvSpPr>
        <p:spPr>
          <a:xfrm>
            <a:off x="8255000" y="4419600"/>
            <a:ext cx="29273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Le pipeline produit des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fichiers preprocesses et des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embeddings locaux qui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alimentent ensuite le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backend et Qdrant.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0394891-8966-4894-896C-51F415B8413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0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FoodSense V1 | Recherche semantique sur documents produits reconstruits</a:t>
            </a:r>
          </a:p>
        </p:txBody>
      </p:sp>
    </p:spTree>
    <p:extLst>
      <p:ext uri="{BB962C8B-B14F-4D97-AF65-F5344CB8AC3E}">
        <p14:creationId xmlns:p14="http://schemas.microsoft.com/office/powerpoint/2010/main" val="128448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1E98108-7737-4F40-B852-7643EDEEE73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2C820D62-83E9-4581-9E8E-075D62122EFA}"/>
              </a:ext>
            </a:extLst>
          </p:cNvPr>
          <p:cNvSpPr>
            <a:spLocks noGrp="1"/>
          </p:cNvSpPr>
          <p:nvPr/>
        </p:nvSpPr>
        <p:spPr>
          <a:xfrm>
            <a:off x="-1143000" y="-857250"/>
            <a:ext cx="4000500" cy="3048000"/>
          </a:xfrm>
          <a:prstGeom prst="ellipse">
            <a:avLst/>
          </a:prstGeom>
          <a:solidFill>
            <a:srgbClr val="E9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C4263CE8-0AB7-4EC1-807F-7901629E0543}"/>
              </a:ext>
            </a:extLst>
          </p:cNvPr>
          <p:cNvSpPr>
            <a:spLocks noGrp="1"/>
          </p:cNvSpPr>
          <p:nvPr/>
        </p:nvSpPr>
        <p:spPr>
          <a:xfrm>
            <a:off x="9525000" y="-381000"/>
            <a:ext cx="2476500" cy="2095500"/>
          </a:xfrm>
          <a:prstGeom prst="ellipse">
            <a:avLst/>
          </a:prstGeom>
          <a:solidFill>
            <a:srgbClr val="FCE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EA7B863-AF87-4FE2-9607-BCC4639ACD3B}"/>
              </a:ext>
            </a:extLst>
          </p:cNvPr>
          <p:cNvSpPr>
            <a:spLocks noGrp="1"/>
          </p:cNvSpPr>
          <p:nvPr/>
        </p:nvSpPr>
        <p:spPr>
          <a:xfrm>
            <a:off x="8763000" y="4953000"/>
            <a:ext cx="3429000" cy="2476500"/>
          </a:xfrm>
          <a:prstGeom prst="ellipse">
            <a:avLst/>
          </a:prstGeom>
          <a:solidFill>
            <a:srgbClr val="E8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84F7EF97-FEDC-49CA-B2D7-C511BBADF596}"/>
              </a:ext>
            </a:extLst>
          </p:cNvPr>
          <p:cNvSpPr>
            <a:spLocks noGrp="1"/>
          </p:cNvSpPr>
          <p:nvPr/>
        </p:nvSpPr>
        <p:spPr>
          <a:xfrm>
            <a:off x="533400" y="876300"/>
            <a:ext cx="11125200" cy="5295900"/>
          </a:xfrm>
          <a:prstGeom prst="roundRect">
            <a:avLst>
              <a:gd name="adj" fmla="val 1439"/>
            </a:avLst>
          </a:prstGeom>
          <a:solidFill>
            <a:srgbClr val="FFFFFF">
              <a:alpha val="84706"/>
            </a:srgbClr>
          </a:solidFill>
          <a:ln w="9525">
            <a:solidFill>
              <a:srgbClr val="E5DED1"/>
            </a:solidFill>
            <a:prstDash val="solid"/>
          </a:ln>
        </p:spPr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2F9992D-0BED-48E2-B32B-5D82DD5EE5C6}"/>
              </a:ext>
            </a:extLst>
          </p:cNvPr>
          <p:cNvSpPr>
            <a:spLocks noGrp="1"/>
          </p:cNvSpPr>
          <p:nvPr/>
        </p:nvSpPr>
        <p:spPr>
          <a:xfrm>
            <a:off x="-28575" y="0"/>
            <a:ext cx="12192000" cy="6858000"/>
          </a:xfrm>
          <a:prstGeom prst="rect">
            <a:avLst/>
          </a:prstGeom>
          <a:solidFill>
            <a:srgbClr val="FFFFFF">
              <a:alpha val="7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22318A-40BD-4104-843B-9F6676F421C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ARCHITECTURE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E0C938-179E-423B-8524-E64F450D0DFD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12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7DFB29-C9CB-4CA1-8C62-DFD24AB1E7C6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48155128-3CB8-4385-AE41-EBF941A31D7A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9FDF7C-F8F9-42FC-8169-7172F509034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667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Architecture technique de FoodSense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8588DF-E404-49E6-B671-0B806D2AF6C4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667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Le systeme s'appuie sur une separation claire entre interface, API, vectorisation et stockage vectoriel.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FAB02840-77CE-4EA5-BB64-CCF96FE98ADE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E8355F-C3B4-4E48-84B9-815C72FBF3EE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666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568401-2090-4074-8C23-35A880BFAE43}"/>
              </a:ext>
            </a:extLst>
          </p:cNvPr>
          <p:cNvSpPr>
            <a:spLocks noGrp="1"/>
          </p:cNvSpPr>
          <p:nvPr/>
        </p:nvSpPr>
        <p:spPr>
          <a:xfrm>
            <a:off x="10858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Next.js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C5304E-D371-454F-A69B-D803A082DFDC}"/>
              </a:ext>
            </a:extLst>
          </p:cNvPr>
          <p:cNvSpPr>
            <a:spLocks noGrp="1"/>
          </p:cNvSpPr>
          <p:nvPr/>
        </p:nvSpPr>
        <p:spPr>
          <a:xfrm>
            <a:off x="11049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Frontend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893A38-B7F9-489B-9564-ED2B9A0340B2}"/>
              </a:ext>
            </a:extLst>
          </p:cNvPr>
          <p:cNvSpPr>
            <a:spLocks noGrp="1"/>
          </p:cNvSpPr>
          <p:nvPr/>
        </p:nvSpPr>
        <p:spPr>
          <a:xfrm>
            <a:off x="11049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Experience de recherche et affichage des resultats.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FFB07917-BA2F-4E71-8859-32C21DF982D3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3FA572-1C6B-4AB3-8691-75D5A8B30272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66675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E1CD54-40F4-4843-8E1B-611691EBDC3F}"/>
              </a:ext>
            </a:extLst>
          </p:cNvPr>
          <p:cNvSpPr>
            <a:spLocks noGrp="1"/>
          </p:cNvSpPr>
          <p:nvPr/>
        </p:nvSpPr>
        <p:spPr>
          <a:xfrm>
            <a:off x="461010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FastAPI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191ED2-6D50-41F3-9A70-CD6C10331460}"/>
              </a:ext>
            </a:extLst>
          </p:cNvPr>
          <p:cNvSpPr>
            <a:spLocks noGrp="1"/>
          </p:cNvSpPr>
          <p:nvPr/>
        </p:nvSpPr>
        <p:spPr>
          <a:xfrm>
            <a:off x="462915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Backend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493581-87B4-4976-8780-945A58DFD091}"/>
              </a:ext>
            </a:extLst>
          </p:cNvPr>
          <p:cNvSpPr>
            <a:spLocks noGrp="1"/>
          </p:cNvSpPr>
          <p:nvPr/>
        </p:nvSpPr>
        <p:spPr>
          <a:xfrm>
            <a:off x="462915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Routes principales: /search et /summarize/{product_id}.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6F1A9BEE-1B87-446B-8C08-ACC5D7C18B42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3CAAA8-F9F0-4723-B757-9D119636FC83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66675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6B7ED9-6B69-4707-A2AB-FFA1B6658260}"/>
              </a:ext>
            </a:extLst>
          </p:cNvPr>
          <p:cNvSpPr>
            <a:spLocks noGrp="1"/>
          </p:cNvSpPr>
          <p:nvPr/>
        </p:nvSpPr>
        <p:spPr>
          <a:xfrm>
            <a:off x="81343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Qdrant + Ollama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2ED3F7-8068-4CBC-9DAB-BE0438506EF7}"/>
              </a:ext>
            </a:extLst>
          </p:cNvPr>
          <p:cNvSpPr>
            <a:spLocks noGrp="1"/>
          </p:cNvSpPr>
          <p:nvPr/>
        </p:nvSpPr>
        <p:spPr>
          <a:xfrm>
            <a:off x="81534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Recherche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8F3FBE-7014-4C4B-A381-EA92DFD276E8}"/>
              </a:ext>
            </a:extLst>
          </p:cNvPr>
          <p:cNvSpPr>
            <a:spLocks noGrp="1"/>
          </p:cNvSpPr>
          <p:nvPr/>
        </p:nvSpPr>
        <p:spPr>
          <a:xfrm>
            <a:off x="81534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Base vectorielle Qdrant et embeddings bge-m3 localement.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A67904-100C-4CC8-8811-5560AD3CED2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0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FoodSense V1 | Recherche semantique sur documents produits reconstruits</a:t>
            </a:r>
          </a:p>
        </p:txBody>
      </p:sp>
    </p:spTree>
    <p:extLst>
      <p:ext uri="{BB962C8B-B14F-4D97-AF65-F5344CB8AC3E}">
        <p14:creationId xmlns:p14="http://schemas.microsoft.com/office/powerpoint/2010/main" val="581455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61E98108-7737-4F40-B852-7643EDEEE73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F978CAA3-DFEF-42A2-BD25-88065844C260}"/>
              </a:ext>
            </a:extLst>
          </p:cNvPr>
          <p:cNvSpPr>
            <a:spLocks noGrp="1"/>
          </p:cNvSpPr>
          <p:nvPr/>
        </p:nvSpPr>
        <p:spPr>
          <a:xfrm>
            <a:off x="-1143000" y="-857250"/>
            <a:ext cx="4000500" cy="3048000"/>
          </a:xfrm>
          <a:prstGeom prst="ellipse">
            <a:avLst/>
          </a:prstGeom>
          <a:solidFill>
            <a:srgbClr val="E9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FEF2EC2B-FD15-4183-AF51-A050BD206D19}"/>
              </a:ext>
            </a:extLst>
          </p:cNvPr>
          <p:cNvSpPr>
            <a:spLocks noGrp="1"/>
          </p:cNvSpPr>
          <p:nvPr/>
        </p:nvSpPr>
        <p:spPr>
          <a:xfrm>
            <a:off x="9525000" y="-381000"/>
            <a:ext cx="2476500" cy="2095500"/>
          </a:xfrm>
          <a:prstGeom prst="ellipse">
            <a:avLst/>
          </a:prstGeom>
          <a:solidFill>
            <a:srgbClr val="FCE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11D4309C-10B9-4045-BD14-AA1D8B7C9118}"/>
              </a:ext>
            </a:extLst>
          </p:cNvPr>
          <p:cNvSpPr>
            <a:spLocks noGrp="1"/>
          </p:cNvSpPr>
          <p:nvPr/>
        </p:nvSpPr>
        <p:spPr>
          <a:xfrm>
            <a:off x="8763000" y="4953000"/>
            <a:ext cx="3429000" cy="2476500"/>
          </a:xfrm>
          <a:prstGeom prst="ellipse">
            <a:avLst/>
          </a:prstGeom>
          <a:solidFill>
            <a:srgbClr val="E8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5B9E809D-626D-49CB-835A-67B44A55DC93}"/>
              </a:ext>
            </a:extLst>
          </p:cNvPr>
          <p:cNvSpPr>
            <a:spLocks noGrp="1"/>
          </p:cNvSpPr>
          <p:nvPr/>
        </p:nvSpPr>
        <p:spPr>
          <a:xfrm>
            <a:off x="533400" y="876300"/>
            <a:ext cx="11125200" cy="5295900"/>
          </a:xfrm>
          <a:prstGeom prst="roundRect">
            <a:avLst>
              <a:gd name="adj" fmla="val 1439"/>
            </a:avLst>
          </a:prstGeom>
          <a:solidFill>
            <a:srgbClr val="FFFFFF">
              <a:alpha val="84706"/>
            </a:srgbClr>
          </a:solidFill>
          <a:ln w="9525">
            <a:solidFill>
              <a:srgbClr val="E5DED1"/>
            </a:solidFill>
            <a:prstDash val="solid"/>
          </a:ln>
        </p:spPr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625B1D2-F4FE-4C51-B1BB-67F7973ED2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9C5372-ECB4-40E9-860F-3776F70829A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RETRIEVAL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568351-CE93-4936-BB47-CBB4CADCA15F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/ 12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0DC093-6EC9-4A59-9C19-0EAA1737550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A7918DF-3959-4D2B-9588-7291A40BA88A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12CFC7-DEB6-422B-9F7D-156DEA5DFDCE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Logique de recherche: semantic_hybrid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0B59F4-C5DC-4CA7-8DD8-2DCC46316045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La V1 combine un signal semantique et un signal lexical afin de conserver une bonne robustesse meme sur machine locale contrainte.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B0F1A3B-4D13-47C5-B9EC-E42CDBA95412}"/>
              </a:ext>
            </a:extLst>
          </p:cNvPr>
          <p:cNvSpPr>
            <a:spLocks noGrp="1"/>
          </p:cNvSpPr>
          <p:nvPr/>
        </p:nvSpPr>
        <p:spPr>
          <a:xfrm>
            <a:off x="800100" y="3600450"/>
            <a:ext cx="3384550" cy="2171700"/>
          </a:xfrm>
          <a:prstGeom prst="roundRect">
            <a:avLst>
              <a:gd name="adj" fmla="val 350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22AC88-D96D-42B1-96EB-4EA61381E3F3}"/>
              </a:ext>
            </a:extLst>
          </p:cNvPr>
          <p:cNvSpPr>
            <a:spLocks noGrp="1"/>
          </p:cNvSpPr>
          <p:nvPr/>
        </p:nvSpPr>
        <p:spPr>
          <a:xfrm>
            <a:off x="800100" y="3600450"/>
            <a:ext cx="76200" cy="21717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A85BB2C9-500C-432A-9916-959D2E00A8A7}"/>
              </a:ext>
            </a:extLst>
          </p:cNvPr>
          <p:cNvSpPr>
            <a:spLocks noGrp="1"/>
          </p:cNvSpPr>
          <p:nvPr/>
        </p:nvSpPr>
        <p:spPr>
          <a:xfrm>
            <a:off x="1009650" y="38290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76C673-D41B-4C70-8DAC-E60350394437}"/>
              </a:ext>
            </a:extLst>
          </p:cNvPr>
          <p:cNvSpPr>
            <a:spLocks noGrp="1"/>
          </p:cNvSpPr>
          <p:nvPr/>
        </p:nvSpPr>
        <p:spPr>
          <a:xfrm>
            <a:off x="1162050" y="410527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5C3BD8-98F3-453B-B48C-BA6801303707}"/>
              </a:ext>
            </a:extLst>
          </p:cNvPr>
          <p:cNvSpPr>
            <a:spLocks noGrp="1"/>
          </p:cNvSpPr>
          <p:nvPr/>
        </p:nvSpPr>
        <p:spPr>
          <a:xfrm>
            <a:off x="1247775" y="402907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CFF3E3-4735-4F5F-BCD4-E105CB70F138}"/>
              </a:ext>
            </a:extLst>
          </p:cNvPr>
          <p:cNvSpPr>
            <a:spLocks noGrp="1"/>
          </p:cNvSpPr>
          <p:nvPr/>
        </p:nvSpPr>
        <p:spPr>
          <a:xfrm>
            <a:off x="1333500" y="396240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318A73-C459-4A4E-900C-88BEC9F0FC86}"/>
              </a:ext>
            </a:extLst>
          </p:cNvPr>
          <p:cNvSpPr>
            <a:spLocks noGrp="1"/>
          </p:cNvSpPr>
          <p:nvPr/>
        </p:nvSpPr>
        <p:spPr>
          <a:xfrm>
            <a:off x="1638300" y="38100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Semantique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6FE0B6-C25B-4D2F-BBCD-EB18D1F19BF8}"/>
              </a:ext>
            </a:extLst>
          </p:cNvPr>
          <p:cNvSpPr>
            <a:spLocks noGrp="1"/>
          </p:cNvSpPr>
          <p:nvPr/>
        </p:nvSpPr>
        <p:spPr>
          <a:xfrm>
            <a:off x="1028700" y="4419600"/>
            <a:ext cx="29273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La requete utilisateur est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vectorisee avec bge-m3 puis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comparee aux documents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produits indexes dans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Qdrant.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307A7FD6-304D-4F3F-BC1D-62511186DB37}"/>
              </a:ext>
            </a:extLst>
          </p:cNvPr>
          <p:cNvSpPr>
            <a:spLocks noGrp="1"/>
          </p:cNvSpPr>
          <p:nvPr/>
        </p:nvSpPr>
        <p:spPr>
          <a:xfrm>
            <a:off x="4413250" y="3600450"/>
            <a:ext cx="3384550" cy="2171700"/>
          </a:xfrm>
          <a:prstGeom prst="roundRect">
            <a:avLst>
              <a:gd name="adj" fmla="val 350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00E2DD-BEC7-4D2E-846B-42F2AA7E50C2}"/>
              </a:ext>
            </a:extLst>
          </p:cNvPr>
          <p:cNvSpPr>
            <a:spLocks noGrp="1"/>
          </p:cNvSpPr>
          <p:nvPr/>
        </p:nvSpPr>
        <p:spPr>
          <a:xfrm>
            <a:off x="4413250" y="3600450"/>
            <a:ext cx="76200" cy="21717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3CE5628E-649D-47A8-82C7-B07E4C8D4864}"/>
              </a:ext>
            </a:extLst>
          </p:cNvPr>
          <p:cNvSpPr>
            <a:spLocks noGrp="1"/>
          </p:cNvSpPr>
          <p:nvPr/>
        </p:nvSpPr>
        <p:spPr>
          <a:xfrm>
            <a:off x="4622800" y="38290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EBD248FF-C05E-4594-8E0B-85CD064D584D}"/>
              </a:ext>
            </a:extLst>
          </p:cNvPr>
          <p:cNvSpPr>
            <a:spLocks noGrp="1"/>
          </p:cNvSpPr>
          <p:nvPr/>
        </p:nvSpPr>
        <p:spPr>
          <a:xfrm>
            <a:off x="4746625" y="400050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0845D740-1815-4B92-ABA4-3132E2FD9D70}"/>
              </a:ext>
            </a:extLst>
          </p:cNvPr>
          <p:cNvSpPr>
            <a:spLocks noGrp="1"/>
          </p:cNvSpPr>
          <p:nvPr/>
        </p:nvSpPr>
        <p:spPr>
          <a:xfrm>
            <a:off x="4918075" y="408622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25D519-B50E-4C85-8F0F-83CB17556824}"/>
              </a:ext>
            </a:extLst>
          </p:cNvPr>
          <p:cNvSpPr>
            <a:spLocks noGrp="1"/>
          </p:cNvSpPr>
          <p:nvPr/>
        </p:nvSpPr>
        <p:spPr>
          <a:xfrm>
            <a:off x="4832350" y="406717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3292DB-AE00-4B21-8B98-5097101074B7}"/>
              </a:ext>
            </a:extLst>
          </p:cNvPr>
          <p:cNvSpPr>
            <a:spLocks noGrp="1"/>
          </p:cNvSpPr>
          <p:nvPr/>
        </p:nvSpPr>
        <p:spPr>
          <a:xfrm>
            <a:off x="5251450" y="38100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Hybride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04EBB8-C217-4660-B3E6-9B810FAE4995}"/>
              </a:ext>
            </a:extLst>
          </p:cNvPr>
          <p:cNvSpPr>
            <a:spLocks noGrp="1"/>
          </p:cNvSpPr>
          <p:nvPr/>
        </p:nvSpPr>
        <p:spPr>
          <a:xfrm>
            <a:off x="4641850" y="4419600"/>
            <a:ext cx="29273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Le classement final combine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un score semantique et un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signal lexical pour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renforcer les cas ou les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mots comptent fortement.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C2B5873A-1606-4F73-B6A5-3C0FCBDB7496}"/>
              </a:ext>
            </a:extLst>
          </p:cNvPr>
          <p:cNvSpPr>
            <a:spLocks noGrp="1"/>
          </p:cNvSpPr>
          <p:nvPr/>
        </p:nvSpPr>
        <p:spPr>
          <a:xfrm>
            <a:off x="8026400" y="3600450"/>
            <a:ext cx="3384550" cy="2171700"/>
          </a:xfrm>
          <a:prstGeom prst="roundRect">
            <a:avLst>
              <a:gd name="adj" fmla="val 350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4B78AD-9973-46F6-8A06-F03D642FB3BC}"/>
              </a:ext>
            </a:extLst>
          </p:cNvPr>
          <p:cNvSpPr>
            <a:spLocks noGrp="1"/>
          </p:cNvSpPr>
          <p:nvPr/>
        </p:nvSpPr>
        <p:spPr>
          <a:xfrm>
            <a:off x="8026400" y="3600450"/>
            <a:ext cx="76200" cy="21717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C7D5B735-31C7-4801-B36E-CF0F96D31CD5}"/>
              </a:ext>
            </a:extLst>
          </p:cNvPr>
          <p:cNvSpPr>
            <a:spLocks noGrp="1"/>
          </p:cNvSpPr>
          <p:nvPr/>
        </p:nvSpPr>
        <p:spPr>
          <a:xfrm>
            <a:off x="8235950" y="38290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18DE5A7E-988D-42B6-AF89-137BF248A65E}"/>
              </a:ext>
            </a:extLst>
          </p:cNvPr>
          <p:cNvSpPr>
            <a:spLocks noGrp="1"/>
          </p:cNvSpPr>
          <p:nvPr/>
        </p:nvSpPr>
        <p:spPr>
          <a:xfrm>
            <a:off x="8359775" y="39719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2449A1BB-17F9-43D2-BE86-AF45BE305224}"/>
              </a:ext>
            </a:extLst>
          </p:cNvPr>
          <p:cNvSpPr>
            <a:spLocks noGrp="1"/>
          </p:cNvSpPr>
          <p:nvPr/>
        </p:nvSpPr>
        <p:spPr>
          <a:xfrm>
            <a:off x="8407400" y="40576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DAAE0886-D538-4780-8232-9FF793DE0E2B}"/>
              </a:ext>
            </a:extLst>
          </p:cNvPr>
          <p:cNvSpPr>
            <a:spLocks noGrp="1"/>
          </p:cNvSpPr>
          <p:nvPr/>
        </p:nvSpPr>
        <p:spPr>
          <a:xfrm>
            <a:off x="8455025" y="41433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D396E28-696D-4955-9516-F3EE45521A36}"/>
              </a:ext>
            </a:extLst>
          </p:cNvPr>
          <p:cNvSpPr>
            <a:spLocks noGrp="1"/>
          </p:cNvSpPr>
          <p:nvPr/>
        </p:nvSpPr>
        <p:spPr>
          <a:xfrm>
            <a:off x="8864600" y="38100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Fallback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435897C-F8F1-4836-B6C0-DCD39FD88D1A}"/>
              </a:ext>
            </a:extLst>
          </p:cNvPr>
          <p:cNvSpPr>
            <a:spLocks noGrp="1"/>
          </p:cNvSpPr>
          <p:nvPr/>
        </p:nvSpPr>
        <p:spPr>
          <a:xfrm>
            <a:off x="8255000" y="4419600"/>
            <a:ext cx="29273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Si l'embedding echoue, le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backend bascule vers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lexical_fallback afin de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garantir une reponse plutot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qu'un plantage.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6B65A2C-4E67-475F-AB57-81989291DA7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0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FoodSense V1 | Recherche semantique sur documents produits reconstruits</a:t>
            </a:r>
          </a:p>
        </p:txBody>
      </p:sp>
    </p:spTree>
    <p:extLst>
      <p:ext uri="{BB962C8B-B14F-4D97-AF65-F5344CB8AC3E}">
        <p14:creationId xmlns:p14="http://schemas.microsoft.com/office/powerpoint/2010/main" val="572112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61E98108-7737-4F40-B852-7643EDEEE73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2440015B-E518-478C-97EF-62F757A38D98}"/>
              </a:ext>
            </a:extLst>
          </p:cNvPr>
          <p:cNvSpPr>
            <a:spLocks noGrp="1"/>
          </p:cNvSpPr>
          <p:nvPr/>
        </p:nvSpPr>
        <p:spPr>
          <a:xfrm>
            <a:off x="-1143000" y="-857250"/>
            <a:ext cx="4000500" cy="3048000"/>
          </a:xfrm>
          <a:prstGeom prst="ellipse">
            <a:avLst/>
          </a:prstGeom>
          <a:solidFill>
            <a:srgbClr val="E9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55572F6-3A89-4C5D-BEAE-8562A6D73A8A}"/>
              </a:ext>
            </a:extLst>
          </p:cNvPr>
          <p:cNvSpPr>
            <a:spLocks noGrp="1"/>
          </p:cNvSpPr>
          <p:nvPr/>
        </p:nvSpPr>
        <p:spPr>
          <a:xfrm>
            <a:off x="9525000" y="-381000"/>
            <a:ext cx="2476500" cy="2095500"/>
          </a:xfrm>
          <a:prstGeom prst="ellipse">
            <a:avLst/>
          </a:prstGeom>
          <a:solidFill>
            <a:srgbClr val="FCE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52EEE4EF-16B1-48C5-B6C5-FA6FF8E95317}"/>
              </a:ext>
            </a:extLst>
          </p:cNvPr>
          <p:cNvSpPr>
            <a:spLocks noGrp="1"/>
          </p:cNvSpPr>
          <p:nvPr/>
        </p:nvSpPr>
        <p:spPr>
          <a:xfrm>
            <a:off x="8763000" y="4953000"/>
            <a:ext cx="3429000" cy="2476500"/>
          </a:xfrm>
          <a:prstGeom prst="ellipse">
            <a:avLst/>
          </a:prstGeom>
          <a:solidFill>
            <a:srgbClr val="E8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DE7C692-8A95-4AC8-A329-ED6639C3E288}"/>
              </a:ext>
            </a:extLst>
          </p:cNvPr>
          <p:cNvSpPr>
            <a:spLocks noGrp="1"/>
          </p:cNvSpPr>
          <p:nvPr/>
        </p:nvSpPr>
        <p:spPr>
          <a:xfrm>
            <a:off x="533400" y="876300"/>
            <a:ext cx="11125200" cy="5295900"/>
          </a:xfrm>
          <a:prstGeom prst="roundRect">
            <a:avLst>
              <a:gd name="adj" fmla="val 1439"/>
            </a:avLst>
          </a:prstGeom>
          <a:solidFill>
            <a:srgbClr val="FFFFFF">
              <a:alpha val="84706"/>
            </a:srgbClr>
          </a:solidFill>
          <a:ln w="9525">
            <a:solidFill>
              <a:srgbClr val="E5DED1"/>
            </a:solidFill>
            <a:prstDash val="solid"/>
          </a:ln>
        </p:spPr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1B75CFB-14B8-4CAA-8B5B-24C9C49E7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A30482-4B05-4043-A1B3-25C8F2066F9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INTERFACE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0B83E3-117E-4EA7-968B-9256DA1697A0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08 / 12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2A7F99-FE08-430B-8B46-6C2B00D02D6C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95C24D54-8952-4580-A690-455EFF683CA8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DC5C3C-2D29-47F1-9C8F-3140E3BEDE1A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Experience utilisateur de la V1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C70064-E716-4281-A5EC-AF7995F0352E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L'interface reste volontairement simple: une recherche, des resultats classes, des indices utiles et un bouton Resume pour lire plus vite les avis clients.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216B6DB-D1F6-4B4C-A522-2F2896CD51CD}"/>
              </a:ext>
            </a:extLst>
          </p:cNvPr>
          <p:cNvSpPr>
            <a:spLocks noGrp="1"/>
          </p:cNvSpPr>
          <p:nvPr/>
        </p:nvSpPr>
        <p:spPr>
          <a:xfrm>
            <a:off x="800100" y="3600450"/>
            <a:ext cx="3384550" cy="2171700"/>
          </a:xfrm>
          <a:prstGeom prst="roundRect">
            <a:avLst>
              <a:gd name="adj" fmla="val 350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B0ABCA-7CE2-4DC4-A0E5-6FC6FEA06431}"/>
              </a:ext>
            </a:extLst>
          </p:cNvPr>
          <p:cNvSpPr>
            <a:spLocks noGrp="1"/>
          </p:cNvSpPr>
          <p:nvPr/>
        </p:nvSpPr>
        <p:spPr>
          <a:xfrm>
            <a:off x="800100" y="3600450"/>
            <a:ext cx="76200" cy="21717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29BBA61D-8A22-4074-9D09-FF02AC9AA13E}"/>
              </a:ext>
            </a:extLst>
          </p:cNvPr>
          <p:cNvSpPr>
            <a:spLocks noGrp="1"/>
          </p:cNvSpPr>
          <p:nvPr/>
        </p:nvSpPr>
        <p:spPr>
          <a:xfrm>
            <a:off x="1009650" y="38290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F9F153-D463-4DA8-9993-E42B39ACF3D2}"/>
              </a:ext>
            </a:extLst>
          </p:cNvPr>
          <p:cNvSpPr>
            <a:spLocks noGrp="1"/>
          </p:cNvSpPr>
          <p:nvPr/>
        </p:nvSpPr>
        <p:spPr>
          <a:xfrm>
            <a:off x="1162050" y="410527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677655-6ED0-4D8D-9A15-5E276E51D4EB}"/>
              </a:ext>
            </a:extLst>
          </p:cNvPr>
          <p:cNvSpPr>
            <a:spLocks noGrp="1"/>
          </p:cNvSpPr>
          <p:nvPr/>
        </p:nvSpPr>
        <p:spPr>
          <a:xfrm>
            <a:off x="1247775" y="402907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808860-C2AF-471C-8B3C-3AE221177FA3}"/>
              </a:ext>
            </a:extLst>
          </p:cNvPr>
          <p:cNvSpPr>
            <a:spLocks noGrp="1"/>
          </p:cNvSpPr>
          <p:nvPr/>
        </p:nvSpPr>
        <p:spPr>
          <a:xfrm>
            <a:off x="1333500" y="396240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F7B71F-2305-4DD7-87B1-12CDC892574E}"/>
              </a:ext>
            </a:extLst>
          </p:cNvPr>
          <p:cNvSpPr>
            <a:spLocks noGrp="1"/>
          </p:cNvSpPr>
          <p:nvPr/>
        </p:nvSpPr>
        <p:spPr>
          <a:xfrm>
            <a:off x="1638300" y="38100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Resultats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F5B52F-FED8-4DBE-92ED-51D4B39B6464}"/>
              </a:ext>
            </a:extLst>
          </p:cNvPr>
          <p:cNvSpPr>
            <a:spLocks noGrp="1"/>
          </p:cNvSpPr>
          <p:nvPr/>
        </p:nvSpPr>
        <p:spPr>
          <a:xfrm>
            <a:off x="1028700" y="4419600"/>
            <a:ext cx="29273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Chaque resultat expose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ProductId, un label infere,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des extraits utiles, une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note et un score de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pertinence.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1EFA6BD8-F5A5-430F-9B88-A4B150B7F445}"/>
              </a:ext>
            </a:extLst>
          </p:cNvPr>
          <p:cNvSpPr>
            <a:spLocks noGrp="1"/>
          </p:cNvSpPr>
          <p:nvPr/>
        </p:nvSpPr>
        <p:spPr>
          <a:xfrm>
            <a:off x="4413250" y="3600450"/>
            <a:ext cx="3384550" cy="2171700"/>
          </a:xfrm>
          <a:prstGeom prst="roundRect">
            <a:avLst>
              <a:gd name="adj" fmla="val 350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FBF77F-33C9-4F65-B08F-5B89FFF00887}"/>
              </a:ext>
            </a:extLst>
          </p:cNvPr>
          <p:cNvSpPr>
            <a:spLocks noGrp="1"/>
          </p:cNvSpPr>
          <p:nvPr/>
        </p:nvSpPr>
        <p:spPr>
          <a:xfrm>
            <a:off x="4413250" y="3600450"/>
            <a:ext cx="76200" cy="21717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E3F7ADC7-6FAE-4283-BBC2-D07646D9B480}"/>
              </a:ext>
            </a:extLst>
          </p:cNvPr>
          <p:cNvSpPr>
            <a:spLocks noGrp="1"/>
          </p:cNvSpPr>
          <p:nvPr/>
        </p:nvSpPr>
        <p:spPr>
          <a:xfrm>
            <a:off x="4622800" y="38290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FB3E11BF-4B6D-4B59-97B8-C94809D7E862}"/>
              </a:ext>
            </a:extLst>
          </p:cNvPr>
          <p:cNvSpPr>
            <a:spLocks noGrp="1"/>
          </p:cNvSpPr>
          <p:nvPr/>
        </p:nvSpPr>
        <p:spPr>
          <a:xfrm>
            <a:off x="4746625" y="400050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44648CA0-76AB-47A5-8D79-62A2A380540F}"/>
              </a:ext>
            </a:extLst>
          </p:cNvPr>
          <p:cNvSpPr>
            <a:spLocks noGrp="1"/>
          </p:cNvSpPr>
          <p:nvPr/>
        </p:nvSpPr>
        <p:spPr>
          <a:xfrm>
            <a:off x="4918075" y="408622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28EC7BF-625D-4C3B-924C-B6DD3F2A1B6E}"/>
              </a:ext>
            </a:extLst>
          </p:cNvPr>
          <p:cNvSpPr>
            <a:spLocks noGrp="1"/>
          </p:cNvSpPr>
          <p:nvPr/>
        </p:nvSpPr>
        <p:spPr>
          <a:xfrm>
            <a:off x="4832350" y="406717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C93D402-AB8E-402E-9E74-6949C003EC17}"/>
              </a:ext>
            </a:extLst>
          </p:cNvPr>
          <p:cNvSpPr>
            <a:spLocks noGrp="1"/>
          </p:cNvSpPr>
          <p:nvPr/>
        </p:nvSpPr>
        <p:spPr>
          <a:xfrm>
            <a:off x="5251450" y="38100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Resume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C7EEFC2-BB4E-4FEF-8A85-217FF8849457}"/>
              </a:ext>
            </a:extLst>
          </p:cNvPr>
          <p:cNvSpPr>
            <a:spLocks noGrp="1"/>
          </p:cNvSpPr>
          <p:nvPr/>
        </p:nvSpPr>
        <p:spPr>
          <a:xfrm>
            <a:off x="4641850" y="4419600"/>
            <a:ext cx="29273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Le bouton Resume reste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central dans le cahier des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charges; il repose par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defaut sur une synthese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extractive stable.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5344697B-ACF1-4767-A804-B2E2083809CE}"/>
              </a:ext>
            </a:extLst>
          </p:cNvPr>
          <p:cNvSpPr>
            <a:spLocks noGrp="1"/>
          </p:cNvSpPr>
          <p:nvPr/>
        </p:nvSpPr>
        <p:spPr>
          <a:xfrm>
            <a:off x="8026400" y="3600450"/>
            <a:ext cx="3384550" cy="2171700"/>
          </a:xfrm>
          <a:prstGeom prst="roundRect">
            <a:avLst>
              <a:gd name="adj" fmla="val 350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6FABDA8-685D-4DA4-83A4-A0993333785D}"/>
              </a:ext>
            </a:extLst>
          </p:cNvPr>
          <p:cNvSpPr>
            <a:spLocks noGrp="1"/>
          </p:cNvSpPr>
          <p:nvPr/>
        </p:nvSpPr>
        <p:spPr>
          <a:xfrm>
            <a:off x="8026400" y="3600450"/>
            <a:ext cx="76200" cy="21717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2E9BA775-0C70-4B3B-A3B1-1F7DE78FC164}"/>
              </a:ext>
            </a:extLst>
          </p:cNvPr>
          <p:cNvSpPr>
            <a:spLocks noGrp="1"/>
          </p:cNvSpPr>
          <p:nvPr/>
        </p:nvSpPr>
        <p:spPr>
          <a:xfrm>
            <a:off x="8235950" y="38290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10E8767B-9E55-4461-AFBF-0699FF45C3AC}"/>
              </a:ext>
            </a:extLst>
          </p:cNvPr>
          <p:cNvSpPr>
            <a:spLocks noGrp="1"/>
          </p:cNvSpPr>
          <p:nvPr/>
        </p:nvSpPr>
        <p:spPr>
          <a:xfrm>
            <a:off x="8359775" y="39719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6176E6F9-76BD-442C-977D-10ED24458EBD}"/>
              </a:ext>
            </a:extLst>
          </p:cNvPr>
          <p:cNvSpPr>
            <a:spLocks noGrp="1"/>
          </p:cNvSpPr>
          <p:nvPr/>
        </p:nvSpPr>
        <p:spPr>
          <a:xfrm>
            <a:off x="8407400" y="40576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25E5940E-7F73-4EA8-B1F5-41F2627312BB}"/>
              </a:ext>
            </a:extLst>
          </p:cNvPr>
          <p:cNvSpPr>
            <a:spLocks noGrp="1"/>
          </p:cNvSpPr>
          <p:nvPr/>
        </p:nvSpPr>
        <p:spPr>
          <a:xfrm>
            <a:off x="8455025" y="41433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127A071-3397-4902-A913-EC3F2072CF64}"/>
              </a:ext>
            </a:extLst>
          </p:cNvPr>
          <p:cNvSpPr>
            <a:spLocks noGrp="1"/>
          </p:cNvSpPr>
          <p:nvPr/>
        </p:nvSpPr>
        <p:spPr>
          <a:xfrm>
            <a:off x="8864600" y="38100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Transparence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7A221BB-B900-4708-83B9-2CF01FD49E31}"/>
              </a:ext>
            </a:extLst>
          </p:cNvPr>
          <p:cNvSpPr>
            <a:spLocks noGrp="1"/>
          </p:cNvSpPr>
          <p:nvPr/>
        </p:nvSpPr>
        <p:spPr>
          <a:xfrm>
            <a:off x="8255000" y="4419600"/>
            <a:ext cx="29273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Si le backend tombe en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lexical_fallback,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l'interface peut l'indiquer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honnetement a l'utilisateur.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7F81FA9-DCF6-40C2-A617-42CB2CD3459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0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FoodSense V1 | Recherche semantique sur documents produits reconstruits</a:t>
            </a:r>
          </a:p>
        </p:txBody>
      </p:sp>
    </p:spTree>
    <p:extLst>
      <p:ext uri="{BB962C8B-B14F-4D97-AF65-F5344CB8AC3E}">
        <p14:creationId xmlns:p14="http://schemas.microsoft.com/office/powerpoint/2010/main" val="574723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1E98108-7737-4F40-B852-7643EDEEE73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FE8D2427-1317-4942-97CB-5BABC7F5EABF}"/>
              </a:ext>
            </a:extLst>
          </p:cNvPr>
          <p:cNvSpPr>
            <a:spLocks noGrp="1"/>
          </p:cNvSpPr>
          <p:nvPr/>
        </p:nvSpPr>
        <p:spPr>
          <a:xfrm>
            <a:off x="-1143000" y="-857250"/>
            <a:ext cx="4000500" cy="3048000"/>
          </a:xfrm>
          <a:prstGeom prst="ellipse">
            <a:avLst/>
          </a:prstGeom>
          <a:solidFill>
            <a:srgbClr val="E9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8BC75AC9-B460-4C9C-A78A-B4443FD7AE6E}"/>
              </a:ext>
            </a:extLst>
          </p:cNvPr>
          <p:cNvSpPr>
            <a:spLocks noGrp="1"/>
          </p:cNvSpPr>
          <p:nvPr/>
        </p:nvSpPr>
        <p:spPr>
          <a:xfrm>
            <a:off x="9525000" y="-381000"/>
            <a:ext cx="2476500" cy="2095500"/>
          </a:xfrm>
          <a:prstGeom prst="ellipse">
            <a:avLst/>
          </a:prstGeom>
          <a:solidFill>
            <a:srgbClr val="FCE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053DE1AA-0E77-4C73-B3E6-027DE99B7B70}"/>
              </a:ext>
            </a:extLst>
          </p:cNvPr>
          <p:cNvSpPr>
            <a:spLocks noGrp="1"/>
          </p:cNvSpPr>
          <p:nvPr/>
        </p:nvSpPr>
        <p:spPr>
          <a:xfrm>
            <a:off x="8763000" y="4953000"/>
            <a:ext cx="3429000" cy="2476500"/>
          </a:xfrm>
          <a:prstGeom prst="ellipse">
            <a:avLst/>
          </a:prstGeom>
          <a:solidFill>
            <a:srgbClr val="E8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3830FFA-15FC-468E-8D5F-228AF3B538C5}"/>
              </a:ext>
            </a:extLst>
          </p:cNvPr>
          <p:cNvSpPr>
            <a:spLocks noGrp="1"/>
          </p:cNvSpPr>
          <p:nvPr/>
        </p:nvSpPr>
        <p:spPr>
          <a:xfrm>
            <a:off x="533400" y="876300"/>
            <a:ext cx="11125200" cy="5295900"/>
          </a:xfrm>
          <a:prstGeom prst="roundRect">
            <a:avLst>
              <a:gd name="adj" fmla="val 1439"/>
            </a:avLst>
          </a:prstGeom>
          <a:solidFill>
            <a:srgbClr val="FFFFFF">
              <a:alpha val="84706"/>
            </a:srgbClr>
          </a:solidFill>
          <a:ln w="9525">
            <a:solidFill>
              <a:srgbClr val="E5DED1"/>
            </a:solidFill>
            <a:prstDash val="solid"/>
          </a:ln>
        </p:spPr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A356E29-A27C-4644-942F-3ED668BDF2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A744B7-0A10-4662-9942-BC9D27B9F35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EVALUATION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EE61AC-7FDD-43AA-A3BC-D83BFECC2BF4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09 / 12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0BCCAF-F982-412E-8B24-6FBB163EE8B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7E9B222-0E80-44B7-B4BC-8FF07B8CF43F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8EF8CC-9CA6-4EAB-B365-00A85F510A37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667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Comparaison avec une baseline lexicale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91CD85-70B8-4B48-8548-802BC8D7641E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667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Nous avons evalue la V1 sur un petit benchmark avec trois metriques: Precision@3, Success@3 et MRR.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EDCCE314-387D-4D9F-A384-4F5C4EC3086B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FBB008-03C4-47FA-AB9D-5B7CEF30E6C9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666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4F3718-3345-484F-84C2-C5435E0A06D5}"/>
              </a:ext>
            </a:extLst>
          </p:cNvPr>
          <p:cNvSpPr>
            <a:spLocks noGrp="1"/>
          </p:cNvSpPr>
          <p:nvPr/>
        </p:nvSpPr>
        <p:spPr>
          <a:xfrm>
            <a:off x="10858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0.75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640845-9F3A-4BA3-9C44-E04A6955A8DE}"/>
              </a:ext>
            </a:extLst>
          </p:cNvPr>
          <p:cNvSpPr>
            <a:spLocks noGrp="1"/>
          </p:cNvSpPr>
          <p:nvPr/>
        </p:nvSpPr>
        <p:spPr>
          <a:xfrm>
            <a:off x="11049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Precision@3 semantique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4B1C9E-65A8-4B76-9A38-ABC2B8B425B3}"/>
              </a:ext>
            </a:extLst>
          </p:cNvPr>
          <p:cNvSpPr>
            <a:spLocks noGrp="1"/>
          </p:cNvSpPr>
          <p:nvPr/>
        </p:nvSpPr>
        <p:spPr>
          <a:xfrm>
            <a:off x="11049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Baseline lexicale: 0.6667.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1D7234A3-039D-438E-9988-6DB38B847C14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C36B67-13DE-478B-8405-274FB23988FC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66675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E31855-A5A0-4471-A99A-5EF2FDCE4E17}"/>
              </a:ext>
            </a:extLst>
          </p:cNvPr>
          <p:cNvSpPr>
            <a:spLocks noGrp="1"/>
          </p:cNvSpPr>
          <p:nvPr/>
        </p:nvSpPr>
        <p:spPr>
          <a:xfrm>
            <a:off x="461010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1.00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10E1BC-E946-4AAB-80CD-F9827E09BFBE}"/>
              </a:ext>
            </a:extLst>
          </p:cNvPr>
          <p:cNvSpPr>
            <a:spLocks noGrp="1"/>
          </p:cNvSpPr>
          <p:nvPr/>
        </p:nvSpPr>
        <p:spPr>
          <a:xfrm>
            <a:off x="462915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Success@3 semantique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516E26-C59A-42EE-AE0A-3182A7101624}"/>
              </a:ext>
            </a:extLst>
          </p:cNvPr>
          <p:cNvSpPr>
            <a:spLocks noGrp="1"/>
          </p:cNvSpPr>
          <p:nvPr/>
        </p:nvSpPr>
        <p:spPr>
          <a:xfrm>
            <a:off x="462915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Baseline lexicale: 0.75.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C896875F-4CCA-41AF-AC42-5593F443F431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BEC46B-9882-47C2-8382-9379DB128153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66675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D3217C-8313-4FFC-8EA9-CF8EF8E86B3E}"/>
              </a:ext>
            </a:extLst>
          </p:cNvPr>
          <p:cNvSpPr>
            <a:spLocks noGrp="1"/>
          </p:cNvSpPr>
          <p:nvPr/>
        </p:nvSpPr>
        <p:spPr>
          <a:xfrm>
            <a:off x="81343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0.8333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5C066F-B4BB-4088-A566-84A99AE44CEA}"/>
              </a:ext>
            </a:extLst>
          </p:cNvPr>
          <p:cNvSpPr>
            <a:spLocks noGrp="1"/>
          </p:cNvSpPr>
          <p:nvPr/>
        </p:nvSpPr>
        <p:spPr>
          <a:xfrm>
            <a:off x="81534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MRR semantique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7B32EA-CE48-42BC-9D02-CCACCF2D484F}"/>
              </a:ext>
            </a:extLst>
          </p:cNvPr>
          <p:cNvSpPr>
            <a:spLocks noGrp="1"/>
          </p:cNvSpPr>
          <p:nvPr/>
        </p:nvSpPr>
        <p:spPr>
          <a:xfrm>
            <a:off x="81534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Baseline lexicale: 0.75.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DD7BD9-B8FB-4FB9-A6F0-FB13DA3F819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0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FoodSense V1 | Recherche semantique sur documents produits reconstruits</a:t>
            </a:r>
          </a:p>
        </p:txBody>
      </p:sp>
    </p:spTree>
    <p:extLst>
      <p:ext uri="{BB962C8B-B14F-4D97-AF65-F5344CB8AC3E}">
        <p14:creationId xmlns:p14="http://schemas.microsoft.com/office/powerpoint/2010/main" val="1226026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61E98108-7737-4F40-B852-7643EDEEE73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1F1E8208-3594-4CBB-9486-9BC4AA832C4B}"/>
              </a:ext>
            </a:extLst>
          </p:cNvPr>
          <p:cNvSpPr>
            <a:spLocks noGrp="1"/>
          </p:cNvSpPr>
          <p:nvPr/>
        </p:nvSpPr>
        <p:spPr>
          <a:xfrm>
            <a:off x="-1143000" y="-857250"/>
            <a:ext cx="4000500" cy="3048000"/>
          </a:xfrm>
          <a:prstGeom prst="ellipse">
            <a:avLst/>
          </a:prstGeom>
          <a:solidFill>
            <a:srgbClr val="E9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30F97D94-5D20-4F65-86CE-CF48D4983ABA}"/>
              </a:ext>
            </a:extLst>
          </p:cNvPr>
          <p:cNvSpPr>
            <a:spLocks noGrp="1"/>
          </p:cNvSpPr>
          <p:nvPr/>
        </p:nvSpPr>
        <p:spPr>
          <a:xfrm>
            <a:off x="9525000" y="-381000"/>
            <a:ext cx="2476500" cy="2095500"/>
          </a:xfrm>
          <a:prstGeom prst="ellipse">
            <a:avLst/>
          </a:prstGeom>
          <a:solidFill>
            <a:srgbClr val="FCE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317E991B-9365-49A8-B7C2-20FBCD446DF0}"/>
              </a:ext>
            </a:extLst>
          </p:cNvPr>
          <p:cNvSpPr>
            <a:spLocks noGrp="1"/>
          </p:cNvSpPr>
          <p:nvPr/>
        </p:nvSpPr>
        <p:spPr>
          <a:xfrm>
            <a:off x="8763000" y="4953000"/>
            <a:ext cx="3429000" cy="2476500"/>
          </a:xfrm>
          <a:prstGeom prst="ellipse">
            <a:avLst/>
          </a:prstGeom>
          <a:solidFill>
            <a:srgbClr val="E8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A72221F5-5994-4570-8E75-BB73A0D687C7}"/>
              </a:ext>
            </a:extLst>
          </p:cNvPr>
          <p:cNvSpPr>
            <a:spLocks noGrp="1"/>
          </p:cNvSpPr>
          <p:nvPr/>
        </p:nvSpPr>
        <p:spPr>
          <a:xfrm>
            <a:off x="533400" y="876300"/>
            <a:ext cx="11125200" cy="5295900"/>
          </a:xfrm>
          <a:prstGeom prst="roundRect">
            <a:avLst>
              <a:gd name="adj" fmla="val 1439"/>
            </a:avLst>
          </a:prstGeom>
          <a:solidFill>
            <a:srgbClr val="FFFFFF">
              <a:alpha val="84706"/>
            </a:srgbClr>
          </a:solidFill>
          <a:ln w="9525">
            <a:solidFill>
              <a:srgbClr val="E5DED1"/>
            </a:solidFill>
            <a:prstDash val="solid"/>
          </a:ln>
        </p:spPr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D7A13E5-8D7C-4DF1-B32A-ADED81DDA1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191157-0E85-4AD1-94B7-89782767059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DEMO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6832C7-5E5F-40CD-960B-2F708D5EF182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10 / 12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97A986-5F9D-4A03-AE8F-C0CE5A2E4E50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CCFA7206-9B88-4BD0-B039-C465B3FCEBD9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CA97C1-4F94-4600-ADF7-8CB2A6EFA477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Scenario de demonstration conseille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BF9B48-020B-46A8-88E8-6C6653B198D5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La demonstration doit etre courte, stable et centree sur une preuve claire de valeur.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11B2980-18CA-48BC-B114-8E375D25AFA8}"/>
              </a:ext>
            </a:extLst>
          </p:cNvPr>
          <p:cNvSpPr>
            <a:spLocks noGrp="1"/>
          </p:cNvSpPr>
          <p:nvPr/>
        </p:nvSpPr>
        <p:spPr>
          <a:xfrm>
            <a:off x="800100" y="3600450"/>
            <a:ext cx="3384550" cy="2171700"/>
          </a:xfrm>
          <a:prstGeom prst="roundRect">
            <a:avLst>
              <a:gd name="adj" fmla="val 350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3EF821-A303-4860-BA37-A5CEF44FDA26}"/>
              </a:ext>
            </a:extLst>
          </p:cNvPr>
          <p:cNvSpPr>
            <a:spLocks noGrp="1"/>
          </p:cNvSpPr>
          <p:nvPr/>
        </p:nvSpPr>
        <p:spPr>
          <a:xfrm>
            <a:off x="800100" y="3600450"/>
            <a:ext cx="76200" cy="21717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246038BA-76ED-4DAF-A1FF-B37AAD0103E6}"/>
              </a:ext>
            </a:extLst>
          </p:cNvPr>
          <p:cNvSpPr>
            <a:spLocks noGrp="1"/>
          </p:cNvSpPr>
          <p:nvPr/>
        </p:nvSpPr>
        <p:spPr>
          <a:xfrm>
            <a:off x="1009650" y="38290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7668F3-84C4-4148-8E6E-960DB7F10CFA}"/>
              </a:ext>
            </a:extLst>
          </p:cNvPr>
          <p:cNvSpPr>
            <a:spLocks noGrp="1"/>
          </p:cNvSpPr>
          <p:nvPr/>
        </p:nvSpPr>
        <p:spPr>
          <a:xfrm>
            <a:off x="1162050" y="410527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683ABC-68C8-42FD-A614-E1A74D6999C3}"/>
              </a:ext>
            </a:extLst>
          </p:cNvPr>
          <p:cNvSpPr>
            <a:spLocks noGrp="1"/>
          </p:cNvSpPr>
          <p:nvPr/>
        </p:nvSpPr>
        <p:spPr>
          <a:xfrm>
            <a:off x="1247775" y="402907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789365-FB32-47B4-8AB0-6890C5EF02B5}"/>
              </a:ext>
            </a:extLst>
          </p:cNvPr>
          <p:cNvSpPr>
            <a:spLocks noGrp="1"/>
          </p:cNvSpPr>
          <p:nvPr/>
        </p:nvSpPr>
        <p:spPr>
          <a:xfrm>
            <a:off x="1333500" y="396240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74C702-6587-4874-988A-459249EB93EB}"/>
              </a:ext>
            </a:extLst>
          </p:cNvPr>
          <p:cNvSpPr>
            <a:spLocks noGrp="1"/>
          </p:cNvSpPr>
          <p:nvPr/>
        </p:nvSpPr>
        <p:spPr>
          <a:xfrm>
            <a:off x="1638300" y="38100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1. Requete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83F516-1168-4BB3-9826-5C7E7E73BBD7}"/>
              </a:ext>
            </a:extLst>
          </p:cNvPr>
          <p:cNvSpPr>
            <a:spLocks noGrp="1"/>
          </p:cNvSpPr>
          <p:nvPr/>
        </p:nvSpPr>
        <p:spPr>
          <a:xfrm>
            <a:off x="1028700" y="4419600"/>
            <a:ext cx="29273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Lancer une requete simple et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credible comme dark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chocolate low sugar ou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gluten free cookies.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76EE8F37-8F1F-4A7E-9DC0-724420DC1818}"/>
              </a:ext>
            </a:extLst>
          </p:cNvPr>
          <p:cNvSpPr>
            <a:spLocks noGrp="1"/>
          </p:cNvSpPr>
          <p:nvPr/>
        </p:nvSpPr>
        <p:spPr>
          <a:xfrm>
            <a:off x="4413250" y="3600450"/>
            <a:ext cx="3384550" cy="2171700"/>
          </a:xfrm>
          <a:prstGeom prst="roundRect">
            <a:avLst>
              <a:gd name="adj" fmla="val 350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23CBB4-2483-4941-ADF6-A690FE418E15}"/>
              </a:ext>
            </a:extLst>
          </p:cNvPr>
          <p:cNvSpPr>
            <a:spLocks noGrp="1"/>
          </p:cNvSpPr>
          <p:nvPr/>
        </p:nvSpPr>
        <p:spPr>
          <a:xfrm>
            <a:off x="4413250" y="3600450"/>
            <a:ext cx="76200" cy="21717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4D0A6041-2077-4DF8-A68F-ACDF61966978}"/>
              </a:ext>
            </a:extLst>
          </p:cNvPr>
          <p:cNvSpPr>
            <a:spLocks noGrp="1"/>
          </p:cNvSpPr>
          <p:nvPr/>
        </p:nvSpPr>
        <p:spPr>
          <a:xfrm>
            <a:off x="4622800" y="38290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914CC229-680A-48F5-B79D-357DF1F261E0}"/>
              </a:ext>
            </a:extLst>
          </p:cNvPr>
          <p:cNvSpPr>
            <a:spLocks noGrp="1"/>
          </p:cNvSpPr>
          <p:nvPr/>
        </p:nvSpPr>
        <p:spPr>
          <a:xfrm>
            <a:off x="4746625" y="400050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B91E7B81-42CD-4982-B723-F11FF9DE57DD}"/>
              </a:ext>
            </a:extLst>
          </p:cNvPr>
          <p:cNvSpPr>
            <a:spLocks noGrp="1"/>
          </p:cNvSpPr>
          <p:nvPr/>
        </p:nvSpPr>
        <p:spPr>
          <a:xfrm>
            <a:off x="4918075" y="408622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0DEF5D-26A1-46F8-BF64-F296380BA247}"/>
              </a:ext>
            </a:extLst>
          </p:cNvPr>
          <p:cNvSpPr>
            <a:spLocks noGrp="1"/>
          </p:cNvSpPr>
          <p:nvPr/>
        </p:nvSpPr>
        <p:spPr>
          <a:xfrm>
            <a:off x="4832350" y="406717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81755E-3750-4E83-B365-830F4E2F3CC2}"/>
              </a:ext>
            </a:extLst>
          </p:cNvPr>
          <p:cNvSpPr>
            <a:spLocks noGrp="1"/>
          </p:cNvSpPr>
          <p:nvPr/>
        </p:nvSpPr>
        <p:spPr>
          <a:xfrm>
            <a:off x="5251450" y="38100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2. Lecture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B82776-ACE3-4A9C-AA03-00B92CB5F453}"/>
              </a:ext>
            </a:extLst>
          </p:cNvPr>
          <p:cNvSpPr>
            <a:spLocks noGrp="1"/>
          </p:cNvSpPr>
          <p:nvPr/>
        </p:nvSpPr>
        <p:spPr>
          <a:xfrm>
            <a:off x="4641850" y="4419600"/>
            <a:ext cx="29273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Montrer les resultats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classes, commenter le score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 pertinence et rappeler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que l'unite retournee est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ProductId.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F9CF5194-4434-472E-A703-84D329A93B4A}"/>
              </a:ext>
            </a:extLst>
          </p:cNvPr>
          <p:cNvSpPr>
            <a:spLocks noGrp="1"/>
          </p:cNvSpPr>
          <p:nvPr/>
        </p:nvSpPr>
        <p:spPr>
          <a:xfrm>
            <a:off x="8026400" y="3600450"/>
            <a:ext cx="3384550" cy="2171700"/>
          </a:xfrm>
          <a:prstGeom prst="roundRect">
            <a:avLst>
              <a:gd name="adj" fmla="val 350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BE94DA1-52F1-45F6-A319-8DD92F362D4A}"/>
              </a:ext>
            </a:extLst>
          </p:cNvPr>
          <p:cNvSpPr>
            <a:spLocks noGrp="1"/>
          </p:cNvSpPr>
          <p:nvPr/>
        </p:nvSpPr>
        <p:spPr>
          <a:xfrm>
            <a:off x="8026400" y="3600450"/>
            <a:ext cx="76200" cy="21717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6A1D64D5-AD79-42C8-96DA-F4FDC44D5888}"/>
              </a:ext>
            </a:extLst>
          </p:cNvPr>
          <p:cNvSpPr>
            <a:spLocks noGrp="1"/>
          </p:cNvSpPr>
          <p:nvPr/>
        </p:nvSpPr>
        <p:spPr>
          <a:xfrm>
            <a:off x="8235950" y="38290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2FAC364F-5E17-49F4-9F19-D2EEFE995F7C}"/>
              </a:ext>
            </a:extLst>
          </p:cNvPr>
          <p:cNvSpPr>
            <a:spLocks noGrp="1"/>
          </p:cNvSpPr>
          <p:nvPr/>
        </p:nvSpPr>
        <p:spPr>
          <a:xfrm>
            <a:off x="8359775" y="39719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F83172CD-B211-48F2-8950-CDF06BBC19F4}"/>
              </a:ext>
            </a:extLst>
          </p:cNvPr>
          <p:cNvSpPr>
            <a:spLocks noGrp="1"/>
          </p:cNvSpPr>
          <p:nvPr/>
        </p:nvSpPr>
        <p:spPr>
          <a:xfrm>
            <a:off x="8407400" y="40576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91E269E3-93F3-4D2B-902F-1937ED340D96}"/>
              </a:ext>
            </a:extLst>
          </p:cNvPr>
          <p:cNvSpPr>
            <a:spLocks noGrp="1"/>
          </p:cNvSpPr>
          <p:nvPr/>
        </p:nvSpPr>
        <p:spPr>
          <a:xfrm>
            <a:off x="8455025" y="41433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C7CACF2-028E-46E9-984F-5545A17F0C56}"/>
              </a:ext>
            </a:extLst>
          </p:cNvPr>
          <p:cNvSpPr>
            <a:spLocks noGrp="1"/>
          </p:cNvSpPr>
          <p:nvPr/>
        </p:nvSpPr>
        <p:spPr>
          <a:xfrm>
            <a:off x="8864600" y="38100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3. Resume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F4BDFB7-FB93-48A4-9D2B-C16F92C58599}"/>
              </a:ext>
            </a:extLst>
          </p:cNvPr>
          <p:cNvSpPr>
            <a:spLocks noGrp="1"/>
          </p:cNvSpPr>
          <p:nvPr/>
        </p:nvSpPr>
        <p:spPr>
          <a:xfrm>
            <a:off x="8255000" y="4419600"/>
            <a:ext cx="29273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Cliquer sur Resume pour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montrer la synthese des avis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clients et illustrer la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valeur de lecture rapide.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4275485-0F69-4554-8782-42E0692BDE2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0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FoodSense V1 | Recherche semantique sur documents produits reconstruits</a:t>
            </a:r>
          </a:p>
        </p:txBody>
      </p:sp>
    </p:spTree>
    <p:extLst>
      <p:ext uri="{BB962C8B-B14F-4D97-AF65-F5344CB8AC3E}">
        <p14:creationId xmlns:p14="http://schemas.microsoft.com/office/powerpoint/2010/main" val="1462788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61E98108-7737-4F40-B852-7643EDEEE73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605CBE11-EF1E-43AD-B41F-6DF63F9A2AFA}"/>
              </a:ext>
            </a:extLst>
          </p:cNvPr>
          <p:cNvSpPr>
            <a:spLocks noGrp="1"/>
          </p:cNvSpPr>
          <p:nvPr/>
        </p:nvSpPr>
        <p:spPr>
          <a:xfrm>
            <a:off x="-1143000" y="-857250"/>
            <a:ext cx="4000500" cy="3048000"/>
          </a:xfrm>
          <a:prstGeom prst="ellipse">
            <a:avLst/>
          </a:prstGeom>
          <a:solidFill>
            <a:srgbClr val="E9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84829EBF-992B-4EDF-BB73-F3B15B5E6A42}"/>
              </a:ext>
            </a:extLst>
          </p:cNvPr>
          <p:cNvSpPr>
            <a:spLocks noGrp="1"/>
          </p:cNvSpPr>
          <p:nvPr/>
        </p:nvSpPr>
        <p:spPr>
          <a:xfrm>
            <a:off x="9525000" y="-381000"/>
            <a:ext cx="2476500" cy="2095500"/>
          </a:xfrm>
          <a:prstGeom prst="ellipse">
            <a:avLst/>
          </a:prstGeom>
          <a:solidFill>
            <a:srgbClr val="FCE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4E583A1-B3AA-4961-BD93-CF7E3FB1FF95}"/>
              </a:ext>
            </a:extLst>
          </p:cNvPr>
          <p:cNvSpPr>
            <a:spLocks noGrp="1"/>
          </p:cNvSpPr>
          <p:nvPr/>
        </p:nvSpPr>
        <p:spPr>
          <a:xfrm>
            <a:off x="8763000" y="4953000"/>
            <a:ext cx="3429000" cy="2476500"/>
          </a:xfrm>
          <a:prstGeom prst="ellipse">
            <a:avLst/>
          </a:prstGeom>
          <a:solidFill>
            <a:srgbClr val="E8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54EEEBB-A3A0-4B9B-A2FD-98C7F06DE49D}"/>
              </a:ext>
            </a:extLst>
          </p:cNvPr>
          <p:cNvSpPr>
            <a:spLocks noGrp="1"/>
          </p:cNvSpPr>
          <p:nvPr/>
        </p:nvSpPr>
        <p:spPr>
          <a:xfrm>
            <a:off x="533400" y="876300"/>
            <a:ext cx="11125200" cy="5295900"/>
          </a:xfrm>
          <a:prstGeom prst="roundRect">
            <a:avLst>
              <a:gd name="adj" fmla="val 1439"/>
            </a:avLst>
          </a:prstGeom>
          <a:solidFill>
            <a:srgbClr val="FFFFFF">
              <a:alpha val="84706"/>
            </a:srgbClr>
          </a:solidFill>
          <a:ln w="9525">
            <a:solidFill>
              <a:srgbClr val="E5DED1"/>
            </a:solidFill>
            <a:prstDash val="solid"/>
          </a:ln>
        </p:spPr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B3D0D07-B205-48C5-87E3-D254325071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C7E377-204F-45F9-9585-4DA786D33A5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LIMITES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0A4F5E-846C-4596-8C4B-728D974F783B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11 / 12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063E04-66FA-4604-A834-C1DFC82C9A76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DE149563-44D1-4951-9E91-4A68D56B844E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23FDB3-1D40-4029-B5C8-6626687A3B0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Limites identifiees en V1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345E07-C263-4D16-962C-A54CCE511E62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La V1 est solide techniquement, mais elle reste limitee par le dataset et par le cout local de l'inference d'embedding.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7C2DC83-860F-48B3-8672-6940691CBE2D}"/>
              </a:ext>
            </a:extLst>
          </p:cNvPr>
          <p:cNvSpPr>
            <a:spLocks noGrp="1"/>
          </p:cNvSpPr>
          <p:nvPr/>
        </p:nvSpPr>
        <p:spPr>
          <a:xfrm>
            <a:off x="800100" y="3600450"/>
            <a:ext cx="3384550" cy="2171700"/>
          </a:xfrm>
          <a:prstGeom prst="roundRect">
            <a:avLst>
              <a:gd name="adj" fmla="val 350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F6E34D-7AE3-4C89-AB95-6E60BBCBD8AD}"/>
              </a:ext>
            </a:extLst>
          </p:cNvPr>
          <p:cNvSpPr>
            <a:spLocks noGrp="1"/>
          </p:cNvSpPr>
          <p:nvPr/>
        </p:nvSpPr>
        <p:spPr>
          <a:xfrm>
            <a:off x="800100" y="3600450"/>
            <a:ext cx="76200" cy="21717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7737C2E8-1E32-4125-A605-7D0D0220FB74}"/>
              </a:ext>
            </a:extLst>
          </p:cNvPr>
          <p:cNvSpPr>
            <a:spLocks noGrp="1"/>
          </p:cNvSpPr>
          <p:nvPr/>
        </p:nvSpPr>
        <p:spPr>
          <a:xfrm>
            <a:off x="1009650" y="38290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62960A-6EC5-4948-9CB1-DA9E278C14AB}"/>
              </a:ext>
            </a:extLst>
          </p:cNvPr>
          <p:cNvSpPr>
            <a:spLocks noGrp="1"/>
          </p:cNvSpPr>
          <p:nvPr/>
        </p:nvSpPr>
        <p:spPr>
          <a:xfrm>
            <a:off x="1162050" y="410527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83861D-28FA-4E99-9A02-BD3BA7D279E1}"/>
              </a:ext>
            </a:extLst>
          </p:cNvPr>
          <p:cNvSpPr>
            <a:spLocks noGrp="1"/>
          </p:cNvSpPr>
          <p:nvPr/>
        </p:nvSpPr>
        <p:spPr>
          <a:xfrm>
            <a:off x="1247775" y="402907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867644-403C-453A-A14B-A84E8C109586}"/>
              </a:ext>
            </a:extLst>
          </p:cNvPr>
          <p:cNvSpPr>
            <a:spLocks noGrp="1"/>
          </p:cNvSpPr>
          <p:nvPr/>
        </p:nvSpPr>
        <p:spPr>
          <a:xfrm>
            <a:off x="1333500" y="396240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A063EF-6721-4648-8BED-40D24757D2C2}"/>
              </a:ext>
            </a:extLst>
          </p:cNvPr>
          <p:cNvSpPr>
            <a:spLocks noGrp="1"/>
          </p:cNvSpPr>
          <p:nvPr/>
        </p:nvSpPr>
        <p:spPr>
          <a:xfrm>
            <a:off x="1638300" y="38100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Dataset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472C44-FCFC-4770-BD5A-92B3BC4CA21C}"/>
              </a:ext>
            </a:extLst>
          </p:cNvPr>
          <p:cNvSpPr>
            <a:spLocks noGrp="1"/>
          </p:cNvSpPr>
          <p:nvPr/>
        </p:nvSpPr>
        <p:spPr>
          <a:xfrm>
            <a:off x="1028700" y="4419600"/>
            <a:ext cx="29273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L'absence de vrais noms de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produits et de metadonnees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nutritionnelles empeche une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recherche produit riche ou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un RAG bien ancre.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4C8814AF-FDB9-4176-B744-3380E8753F1F}"/>
              </a:ext>
            </a:extLst>
          </p:cNvPr>
          <p:cNvSpPr>
            <a:spLocks noGrp="1"/>
          </p:cNvSpPr>
          <p:nvPr/>
        </p:nvSpPr>
        <p:spPr>
          <a:xfrm>
            <a:off x="4413250" y="3600450"/>
            <a:ext cx="3384550" cy="2171700"/>
          </a:xfrm>
          <a:prstGeom prst="roundRect">
            <a:avLst>
              <a:gd name="adj" fmla="val 350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2A0712-1B49-46A3-B15C-4FEBE4725C36}"/>
              </a:ext>
            </a:extLst>
          </p:cNvPr>
          <p:cNvSpPr>
            <a:spLocks noGrp="1"/>
          </p:cNvSpPr>
          <p:nvPr/>
        </p:nvSpPr>
        <p:spPr>
          <a:xfrm>
            <a:off x="4413250" y="3600450"/>
            <a:ext cx="76200" cy="21717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5A4733C9-2267-4A3D-ACF6-6924179C75DB}"/>
              </a:ext>
            </a:extLst>
          </p:cNvPr>
          <p:cNvSpPr>
            <a:spLocks noGrp="1"/>
          </p:cNvSpPr>
          <p:nvPr/>
        </p:nvSpPr>
        <p:spPr>
          <a:xfrm>
            <a:off x="4622800" y="38290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043EB1CB-5DA8-45FB-9393-CCC4FA8882AB}"/>
              </a:ext>
            </a:extLst>
          </p:cNvPr>
          <p:cNvSpPr>
            <a:spLocks noGrp="1"/>
          </p:cNvSpPr>
          <p:nvPr/>
        </p:nvSpPr>
        <p:spPr>
          <a:xfrm>
            <a:off x="4746625" y="400050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060989E4-B2FC-4FD0-95B8-17D4605CD2DF}"/>
              </a:ext>
            </a:extLst>
          </p:cNvPr>
          <p:cNvSpPr>
            <a:spLocks noGrp="1"/>
          </p:cNvSpPr>
          <p:nvPr/>
        </p:nvSpPr>
        <p:spPr>
          <a:xfrm>
            <a:off x="4918075" y="408622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6FE025-1446-4DA9-B7E1-5EC06D08FEE7}"/>
              </a:ext>
            </a:extLst>
          </p:cNvPr>
          <p:cNvSpPr>
            <a:spLocks noGrp="1"/>
          </p:cNvSpPr>
          <p:nvPr/>
        </p:nvSpPr>
        <p:spPr>
          <a:xfrm>
            <a:off x="4832350" y="406717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E4248F-990F-4CF2-98BC-9E9E59D24598}"/>
              </a:ext>
            </a:extLst>
          </p:cNvPr>
          <p:cNvSpPr>
            <a:spLocks noGrp="1"/>
          </p:cNvSpPr>
          <p:nvPr/>
        </p:nvSpPr>
        <p:spPr>
          <a:xfrm>
            <a:off x="5251450" y="38100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Ressources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CFD6AA-204C-44CC-96DB-5E688AACD7C4}"/>
              </a:ext>
            </a:extLst>
          </p:cNvPr>
          <p:cNvSpPr>
            <a:spLocks noGrp="1"/>
          </p:cNvSpPr>
          <p:nvPr/>
        </p:nvSpPr>
        <p:spPr>
          <a:xfrm>
            <a:off x="4641850" y="4419600"/>
            <a:ext cx="29273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Sur machine locale,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l'embedding avec Ollama peut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devenir fragile lorsque la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RAM est sous pression.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5A6EB0E8-9ADD-4E5C-AC9D-D95C939F6B67}"/>
              </a:ext>
            </a:extLst>
          </p:cNvPr>
          <p:cNvSpPr>
            <a:spLocks noGrp="1"/>
          </p:cNvSpPr>
          <p:nvPr/>
        </p:nvSpPr>
        <p:spPr>
          <a:xfrm>
            <a:off x="8026400" y="3600450"/>
            <a:ext cx="3384550" cy="2171700"/>
          </a:xfrm>
          <a:prstGeom prst="roundRect">
            <a:avLst>
              <a:gd name="adj" fmla="val 350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9CB4E0-DB40-4E3B-A182-4A03A5B45169}"/>
              </a:ext>
            </a:extLst>
          </p:cNvPr>
          <p:cNvSpPr>
            <a:spLocks noGrp="1"/>
          </p:cNvSpPr>
          <p:nvPr/>
        </p:nvSpPr>
        <p:spPr>
          <a:xfrm>
            <a:off x="8026400" y="3600450"/>
            <a:ext cx="76200" cy="21717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1541D391-16DC-401A-BA47-08BE92203F37}"/>
              </a:ext>
            </a:extLst>
          </p:cNvPr>
          <p:cNvSpPr>
            <a:spLocks noGrp="1"/>
          </p:cNvSpPr>
          <p:nvPr/>
        </p:nvSpPr>
        <p:spPr>
          <a:xfrm>
            <a:off x="8235950" y="38290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FB1E7B57-99D1-405E-9E76-950A0499B78C}"/>
              </a:ext>
            </a:extLst>
          </p:cNvPr>
          <p:cNvSpPr>
            <a:spLocks noGrp="1"/>
          </p:cNvSpPr>
          <p:nvPr/>
        </p:nvSpPr>
        <p:spPr>
          <a:xfrm>
            <a:off x="8359775" y="39719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A40858DE-B286-47F0-A53A-3BC545AF7FA5}"/>
              </a:ext>
            </a:extLst>
          </p:cNvPr>
          <p:cNvSpPr>
            <a:spLocks noGrp="1"/>
          </p:cNvSpPr>
          <p:nvPr/>
        </p:nvSpPr>
        <p:spPr>
          <a:xfrm>
            <a:off x="8407400" y="40576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9C7CD2C7-0E4B-4F67-B2CD-36F66D19CC29}"/>
              </a:ext>
            </a:extLst>
          </p:cNvPr>
          <p:cNvSpPr>
            <a:spLocks noGrp="1"/>
          </p:cNvSpPr>
          <p:nvPr/>
        </p:nvSpPr>
        <p:spPr>
          <a:xfrm>
            <a:off x="8455025" y="41433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1C52CE3-C0A3-4856-BD3F-A78EE894CEEF}"/>
              </a:ext>
            </a:extLst>
          </p:cNvPr>
          <p:cNvSpPr>
            <a:spLocks noGrp="1"/>
          </p:cNvSpPr>
          <p:nvPr/>
        </p:nvSpPr>
        <p:spPr>
          <a:xfrm>
            <a:off x="8864600" y="38100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Benchmark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45123CB-D9E3-490B-BED0-0AB6684BB885}"/>
              </a:ext>
            </a:extLst>
          </p:cNvPr>
          <p:cNvSpPr>
            <a:spLocks noGrp="1"/>
          </p:cNvSpPr>
          <p:nvPr/>
        </p:nvSpPr>
        <p:spPr>
          <a:xfrm>
            <a:off x="8255000" y="4419600"/>
            <a:ext cx="29273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Le jeu de requetes reste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encore petit; une evaluation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V2 devra etre plus large et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mieux annotee.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F0FA95E-6CC1-4871-B153-D0F781F16DC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0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FoodSense V1 | Recherche semantique sur documents produits reconstruits</a:t>
            </a:r>
          </a:p>
        </p:txBody>
      </p:sp>
    </p:spTree>
    <p:extLst>
      <p:ext uri="{BB962C8B-B14F-4D97-AF65-F5344CB8AC3E}">
        <p14:creationId xmlns:p14="http://schemas.microsoft.com/office/powerpoint/2010/main" val="1171284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1E98108-7737-4F40-B852-7643EDEEE73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9A5A76FE-1B22-433D-B2C9-AE2E5BC3B7CA}"/>
              </a:ext>
            </a:extLst>
          </p:cNvPr>
          <p:cNvSpPr>
            <a:spLocks noGrp="1"/>
          </p:cNvSpPr>
          <p:nvPr/>
        </p:nvSpPr>
        <p:spPr>
          <a:xfrm>
            <a:off x="-1143000" y="-857250"/>
            <a:ext cx="4000500" cy="3048000"/>
          </a:xfrm>
          <a:prstGeom prst="ellipse">
            <a:avLst/>
          </a:prstGeom>
          <a:solidFill>
            <a:srgbClr val="E9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03D25C67-33F2-4FA2-8909-DB3B639872A7}"/>
              </a:ext>
            </a:extLst>
          </p:cNvPr>
          <p:cNvSpPr>
            <a:spLocks noGrp="1"/>
          </p:cNvSpPr>
          <p:nvPr/>
        </p:nvSpPr>
        <p:spPr>
          <a:xfrm>
            <a:off x="9525000" y="-381000"/>
            <a:ext cx="2476500" cy="2095500"/>
          </a:xfrm>
          <a:prstGeom prst="ellipse">
            <a:avLst/>
          </a:prstGeom>
          <a:solidFill>
            <a:srgbClr val="FCE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84AB8D22-806B-4640-B242-9D21E9C89797}"/>
              </a:ext>
            </a:extLst>
          </p:cNvPr>
          <p:cNvSpPr>
            <a:spLocks noGrp="1"/>
          </p:cNvSpPr>
          <p:nvPr/>
        </p:nvSpPr>
        <p:spPr>
          <a:xfrm>
            <a:off x="8763000" y="4953000"/>
            <a:ext cx="3429000" cy="2476500"/>
          </a:xfrm>
          <a:prstGeom prst="ellipse">
            <a:avLst/>
          </a:prstGeom>
          <a:solidFill>
            <a:srgbClr val="E8F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F511043A-4E0E-471A-BC3E-4014748D9A93}"/>
              </a:ext>
            </a:extLst>
          </p:cNvPr>
          <p:cNvSpPr>
            <a:spLocks noGrp="1"/>
          </p:cNvSpPr>
          <p:nvPr/>
        </p:nvSpPr>
        <p:spPr>
          <a:xfrm>
            <a:off x="533400" y="876300"/>
            <a:ext cx="11125200" cy="5295900"/>
          </a:xfrm>
          <a:prstGeom prst="roundRect">
            <a:avLst>
              <a:gd name="adj" fmla="val 1439"/>
            </a:avLst>
          </a:prstGeom>
          <a:solidFill>
            <a:srgbClr val="FFFFFF">
              <a:alpha val="84706"/>
            </a:srgbClr>
          </a:solidFill>
          <a:ln w="9525">
            <a:solidFill>
              <a:srgbClr val="E5DED1"/>
            </a:solidFill>
            <a:prstDash val="solid"/>
          </a:ln>
        </p:spPr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D7F98E8-D555-46B9-A5B4-98D061BD0A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4714D0-F7A8-4C86-9A8B-DF1FC3A82C8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SUITE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8AB1E3-9FC0-4AF2-9FA8-6265921BA2B4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12 / 12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717498-5E01-4887-A997-EDDE437F8665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E81C019-9EA3-4A05-B3D0-9D9C195713C9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07F695-84B0-45F5-97F9-57E8CD9F7A38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667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Vision V2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5C9847-23F0-4C21-B08A-B29C8B654F7A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667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La V2 visera un dataset enrichi avec de vrais noms de produits, une recherche plus propre et une generation mieux ancree.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37C5E7B-252B-4BCA-B57F-019D323FA4D7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0B6435-EC74-40F8-BD76-E6C699B251BF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666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685055-661C-47CB-802F-C1669DE2A170}"/>
              </a:ext>
            </a:extLst>
          </p:cNvPr>
          <p:cNvSpPr>
            <a:spLocks noGrp="1"/>
          </p:cNvSpPr>
          <p:nvPr/>
        </p:nvSpPr>
        <p:spPr>
          <a:xfrm>
            <a:off x="10858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Dataset enrichi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286826-06D1-4CE5-8633-15AA16CF9FB4}"/>
              </a:ext>
            </a:extLst>
          </p:cNvPr>
          <p:cNvSpPr>
            <a:spLocks noGrp="1"/>
          </p:cNvSpPr>
          <p:nvPr/>
        </p:nvSpPr>
        <p:spPr>
          <a:xfrm>
            <a:off x="11049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Vrai product_name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0A2DDE-ADCB-4C24-87BD-24350FCAE1F3}"/>
              </a:ext>
            </a:extLst>
          </p:cNvPr>
          <p:cNvSpPr>
            <a:spLocks noGrp="1"/>
          </p:cNvSpPr>
          <p:nvPr/>
        </p:nvSpPr>
        <p:spPr>
          <a:xfrm>
            <a:off x="11049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Base plus favorable a une recherche produit et a un futur RAG.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63ACE5E3-2099-4FCB-BA34-43367B8A47AB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F229B5-78C4-4670-AF25-C2FE9CFFA88D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66675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E6BB9F-551B-4640-9AB2-8496E1475322}"/>
              </a:ext>
            </a:extLst>
          </p:cNvPr>
          <p:cNvSpPr>
            <a:spLocks noGrp="1"/>
          </p:cNvSpPr>
          <p:nvPr/>
        </p:nvSpPr>
        <p:spPr>
          <a:xfrm>
            <a:off x="461010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Retrieval plus leger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CCCD67-E171-4F6A-8AF8-6474824C6131}"/>
              </a:ext>
            </a:extLst>
          </p:cNvPr>
          <p:cNvSpPr>
            <a:spLocks noGrp="1"/>
          </p:cNvSpPr>
          <p:nvPr/>
        </p:nvSpPr>
        <p:spPr>
          <a:xfrm>
            <a:off x="462915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FastEmbed possible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0F874E-B063-4D02-8774-3C44DBA5521D}"/>
              </a:ext>
            </a:extLst>
          </p:cNvPr>
          <p:cNvSpPr>
            <a:spLocks noGrp="1"/>
          </p:cNvSpPr>
          <p:nvPr/>
        </p:nvSpPr>
        <p:spPr>
          <a:xfrm>
            <a:off x="462915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Reduction du cout d'embedding et meilleure stabilite locale.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0DE2F827-85B6-49D6-B5D4-CD2E625A739D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2CA09C-DF76-4ED8-9BC4-DFDA90D6EFAE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66675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C55318-0F15-4FC3-82EE-46B82F433297}"/>
              </a:ext>
            </a:extLst>
          </p:cNvPr>
          <p:cNvSpPr>
            <a:spLocks noGrp="1"/>
          </p:cNvSpPr>
          <p:nvPr/>
        </p:nvSpPr>
        <p:spPr>
          <a:xfrm>
            <a:off x="81343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RAG pertinent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E102D9A-CC0C-4966-BC67-C1C0DFCDFD1E}"/>
              </a:ext>
            </a:extLst>
          </p:cNvPr>
          <p:cNvSpPr>
            <a:spLocks noGrp="1"/>
          </p:cNvSpPr>
          <p:nvPr/>
        </p:nvSpPr>
        <p:spPr>
          <a:xfrm>
            <a:off x="81534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Apres enrichissement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35264C-2707-4F0E-A2F6-0A9054D85C1D}"/>
              </a:ext>
            </a:extLst>
          </p:cNvPr>
          <p:cNvSpPr>
            <a:spLocks noGrp="1"/>
          </p:cNvSpPr>
          <p:nvPr/>
        </p:nvSpPr>
        <p:spPr>
          <a:xfrm>
            <a:off x="81534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Generation utile seulement quand le contexte recuperé devient propre.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83E564-8019-46B3-9A25-3F1BC2A9F3C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0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FoodSense V1 | Recherche semantique sur documents produits reconstruits</a:t>
            </a:r>
          </a:p>
        </p:txBody>
      </p:sp>
    </p:spTree>
    <p:extLst>
      <p:ext uri="{BB962C8B-B14F-4D97-AF65-F5344CB8AC3E}">
        <p14:creationId xmlns:p14="http://schemas.microsoft.com/office/powerpoint/2010/main" val="84579129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1671</Words>
  <Application>Microsoft Office PowerPoint</Application>
  <DocSecurity>0</DocSecurity>
  <PresentationFormat>Grand écran</PresentationFormat>
  <Paragraphs>275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Yusuke Urameshi</cp:lastModifiedBy>
  <cp:revision>2</cp:revision>
  <dcterms:created xsi:type="dcterms:W3CDTF">2026-04-22T12:40:46Z</dcterms:created>
  <dcterms:modified xsi:type="dcterms:W3CDTF">2026-04-22T19:58:22Z</dcterms:modified>
</cp:coreProperties>
</file>